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6" r:id="rId7"/>
    <p:sldId id="261" r:id="rId8"/>
    <p:sldId id="262" r:id="rId9"/>
    <p:sldId id="263" r:id="rId10"/>
    <p:sldId id="264" r:id="rId11"/>
    <p:sldId id="265" r:id="rId12"/>
    <p:sldId id="267" r:id="rId13"/>
  </p:sldIdLst>
  <p:sldSz cx="14630400" cy="8229600"/>
  <p:notesSz cx="8229600" cy="14630400"/>
  <p:embeddedFontLst>
    <p:embeddedFont>
      <p:font typeface="Gelasio"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C2C0"/>
    <a:srgbClr val="D8B6A4"/>
    <a:srgbClr val="4643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04"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9018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003941"/>
            <a:ext cx="7332583" cy="708779"/>
          </a:xfrm>
          <a:prstGeom prst="rect">
            <a:avLst/>
          </a:prstGeom>
          <a:noFill/>
          <a:ln/>
        </p:spPr>
        <p:txBody>
          <a:bodyPr wrap="non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QuantumSecure Chat System</a:t>
            </a:r>
            <a:endParaRPr lang="en-US" sz="4450" dirty="0"/>
          </a:p>
        </p:txBody>
      </p:sp>
      <p:sp>
        <p:nvSpPr>
          <p:cNvPr id="4" name="Text 1"/>
          <p:cNvSpPr/>
          <p:nvPr/>
        </p:nvSpPr>
        <p:spPr>
          <a:xfrm>
            <a:off x="6280190" y="2803446"/>
            <a:ext cx="7556421" cy="1700927"/>
          </a:xfrm>
          <a:prstGeom prst="rect">
            <a:avLst/>
          </a:prstGeom>
          <a:noFill/>
          <a:ln/>
        </p:spPr>
        <p:txBody>
          <a:bodyPr wrap="square" lIns="0" tIns="0" rIns="0" bIns="0" rtlCol="0" anchor="t"/>
          <a:lstStyle/>
          <a:p>
            <a:pPr marL="0" indent="0" algn="l">
              <a:lnSpc>
                <a:spcPts val="4450"/>
              </a:lnSpc>
              <a:buNone/>
            </a:pPr>
            <a:r>
              <a:rPr lang="en-US" sz="3550" dirty="0">
                <a:solidFill>
                  <a:srgbClr val="D8B6A4"/>
                </a:solidFill>
                <a:latin typeface="Gelasio" pitchFamily="34" charset="0"/>
                <a:ea typeface="Gelasio" pitchFamily="34" charset="-122"/>
                <a:cs typeface="Gelasio" pitchFamily="34" charset="-120"/>
              </a:rPr>
              <a:t>Secure Real-Time Messaging using BB84 with Shor’s Algorithm Extension</a:t>
            </a:r>
            <a:endParaRPr lang="en-US" sz="3550" dirty="0"/>
          </a:p>
        </p:txBody>
      </p:sp>
      <p:sp>
        <p:nvSpPr>
          <p:cNvPr id="5" name="Text 2"/>
          <p:cNvSpPr/>
          <p:nvPr/>
        </p:nvSpPr>
        <p:spPr>
          <a:xfrm>
            <a:off x="6280190" y="4503951"/>
            <a:ext cx="7556421" cy="1381126"/>
          </a:xfrm>
          <a:prstGeom prst="rect">
            <a:avLst/>
          </a:prstGeom>
          <a:noFill/>
          <a:ln/>
        </p:spPr>
        <p:txBody>
          <a:bodyPr wrap="none" lIns="0" tIns="0" rIns="0" bIns="0" rtlCol="0" anchor="t"/>
          <a:lstStyle/>
          <a:p>
            <a:pPr marL="0" indent="0" algn="l">
              <a:lnSpc>
                <a:spcPts val="2250"/>
              </a:lnSpc>
              <a:buNone/>
            </a:pPr>
            <a:r>
              <a:rPr lang="en-US" sz="1400" dirty="0">
                <a:solidFill>
                  <a:srgbClr val="C9C2C0"/>
                </a:solidFill>
                <a:latin typeface="Gelasio" pitchFamily="34" charset="0"/>
                <a:ea typeface="Gelasio" pitchFamily="34" charset="-122"/>
                <a:cs typeface="Gelasio" pitchFamily="34" charset="-120"/>
              </a:rPr>
              <a:t>Presented by:</a:t>
            </a:r>
          </a:p>
          <a:p>
            <a:pPr marL="0" indent="0" algn="l">
              <a:lnSpc>
                <a:spcPts val="2250"/>
              </a:lnSpc>
              <a:buNone/>
            </a:pPr>
            <a:r>
              <a:rPr lang="en-US" sz="1400" dirty="0">
                <a:solidFill>
                  <a:srgbClr val="C9C2C0"/>
                </a:solidFill>
                <a:latin typeface="Gelasio" pitchFamily="34" charset="0"/>
                <a:ea typeface="Gelasio" pitchFamily="34" charset="-122"/>
                <a:cs typeface="Gelasio" pitchFamily="34" charset="-120"/>
              </a:rPr>
              <a:t>1.Paleti.Bhanu Prakash (22H71A05B3)</a:t>
            </a:r>
          </a:p>
          <a:p>
            <a:pPr marL="0" indent="0" algn="l">
              <a:lnSpc>
                <a:spcPts val="2250"/>
              </a:lnSpc>
              <a:buNone/>
            </a:pPr>
            <a:r>
              <a:rPr lang="en-US" sz="1400" dirty="0">
                <a:solidFill>
                  <a:srgbClr val="C9C2C0"/>
                </a:solidFill>
                <a:latin typeface="Gelasio" pitchFamily="34" charset="0"/>
                <a:ea typeface="Gelasio" pitchFamily="34" charset="-122"/>
                <a:cs typeface="Gelasio" pitchFamily="34" charset="-120"/>
              </a:rPr>
              <a:t>2.Batchu.Harika (22H71A075)</a:t>
            </a:r>
          </a:p>
          <a:p>
            <a:pPr marL="0" indent="0" algn="l">
              <a:lnSpc>
                <a:spcPts val="2250"/>
              </a:lnSpc>
              <a:buNone/>
            </a:pPr>
            <a:r>
              <a:rPr lang="en-US" sz="1400" dirty="0">
                <a:solidFill>
                  <a:srgbClr val="C9C2C0"/>
                </a:solidFill>
                <a:latin typeface="Gelasio" pitchFamily="34" charset="0"/>
                <a:ea typeface="Gelasio" pitchFamily="34" charset="-122"/>
                <a:cs typeface="Gelasio" pitchFamily="34" charset="-120"/>
              </a:rPr>
              <a:t>3.Namala.Venkata </a:t>
            </a:r>
            <a:r>
              <a:rPr lang="en-US" sz="1400" dirty="0" err="1">
                <a:solidFill>
                  <a:srgbClr val="C9C2C0"/>
                </a:solidFill>
                <a:latin typeface="Gelasio" pitchFamily="34" charset="0"/>
                <a:ea typeface="Gelasio" pitchFamily="34" charset="-122"/>
                <a:cs typeface="Gelasio" pitchFamily="34" charset="-120"/>
              </a:rPr>
              <a:t>Sivamani</a:t>
            </a:r>
            <a:r>
              <a:rPr lang="en-US" sz="1400" dirty="0">
                <a:solidFill>
                  <a:srgbClr val="C9C2C0"/>
                </a:solidFill>
                <a:latin typeface="Gelasio" pitchFamily="34" charset="0"/>
                <a:ea typeface="Gelasio" pitchFamily="34" charset="-122"/>
                <a:cs typeface="Gelasio" pitchFamily="34" charset="-120"/>
              </a:rPr>
              <a:t> (22H71A05A9)</a:t>
            </a:r>
          </a:p>
          <a:p>
            <a:pPr marL="0" indent="0" algn="l">
              <a:lnSpc>
                <a:spcPts val="2250"/>
              </a:lnSpc>
              <a:buNone/>
            </a:pPr>
            <a:r>
              <a:rPr lang="en-US" sz="1400" dirty="0">
                <a:solidFill>
                  <a:srgbClr val="C9C2C0"/>
                </a:solidFill>
                <a:latin typeface="Gelasio" pitchFamily="34" charset="0"/>
                <a:ea typeface="Gelasio" pitchFamily="34" charset="-122"/>
                <a:cs typeface="Gelasio" pitchFamily="34" charset="-120"/>
              </a:rPr>
              <a:t>4.Yaradla.Yaswanth Reddy (22H71A05D3)</a:t>
            </a:r>
          </a:p>
          <a:p>
            <a:pPr marL="0" indent="0" algn="l">
              <a:lnSpc>
                <a:spcPts val="2250"/>
              </a:lnSpc>
              <a:buNone/>
            </a:pPr>
            <a:endParaRPr lang="en-US" sz="1400" dirty="0">
              <a:solidFill>
                <a:srgbClr val="C9C2C0"/>
              </a:solidFill>
              <a:latin typeface="Gelasio" pitchFamily="34" charset="0"/>
              <a:ea typeface="Gelasio" pitchFamily="34" charset="-122"/>
              <a:cs typeface="Gelasio" pitchFamily="34" charset="-120"/>
            </a:endParaRPr>
          </a:p>
          <a:p>
            <a:pPr marL="0" indent="0" algn="l">
              <a:lnSpc>
                <a:spcPts val="2250"/>
              </a:lnSpc>
              <a:buNone/>
            </a:pPr>
            <a:r>
              <a:rPr lang="en-US" sz="1400" dirty="0">
                <a:solidFill>
                  <a:srgbClr val="C9C2C0"/>
                </a:solidFill>
                <a:latin typeface="Gelasio" pitchFamily="34" charset="0"/>
                <a:ea typeface="Gelasio" pitchFamily="34" charset="-122"/>
                <a:cs typeface="Gelasio" pitchFamily="34" charset="-120"/>
              </a:rPr>
              <a:t> </a:t>
            </a:r>
            <a:endParaRPr lang="en-US" sz="1400" dirty="0"/>
          </a:p>
        </p:txBody>
      </p:sp>
      <p:sp>
        <p:nvSpPr>
          <p:cNvPr id="6" name="Text 3"/>
          <p:cNvSpPr/>
          <p:nvPr/>
        </p:nvSpPr>
        <p:spPr>
          <a:xfrm>
            <a:off x="6254790" y="6096238"/>
            <a:ext cx="7556421" cy="290274"/>
          </a:xfrm>
          <a:prstGeom prst="rect">
            <a:avLst/>
          </a:prstGeom>
          <a:noFill/>
          <a:ln/>
        </p:spPr>
        <p:txBody>
          <a:bodyPr wrap="none" lIns="0" tIns="0" rIns="0" bIns="0" rtlCol="0" anchor="t"/>
          <a:lstStyle/>
          <a:p>
            <a:pPr marL="0" indent="0" algn="l">
              <a:lnSpc>
                <a:spcPts val="2250"/>
              </a:lnSpc>
              <a:buNone/>
            </a:pPr>
            <a:r>
              <a:rPr lang="en-US" sz="1400" dirty="0">
                <a:solidFill>
                  <a:srgbClr val="C9C2C0"/>
                </a:solidFill>
                <a:latin typeface="Gelasio" pitchFamily="34" charset="0"/>
                <a:ea typeface="Gelasio" pitchFamily="34" charset="-122"/>
                <a:cs typeface="Gelasio" pitchFamily="34" charset="-120"/>
              </a:rPr>
              <a:t>Guide: </a:t>
            </a:r>
            <a:r>
              <a:rPr lang="en-US" sz="1400" dirty="0" err="1">
                <a:solidFill>
                  <a:srgbClr val="C9C2C0"/>
                </a:solidFill>
                <a:latin typeface="Gelasio" pitchFamily="34" charset="0"/>
                <a:ea typeface="Gelasio" pitchFamily="34" charset="-122"/>
                <a:cs typeface="Gelasio" pitchFamily="34" charset="-120"/>
              </a:rPr>
              <a:t>Ms.J.Sravani</a:t>
            </a:r>
            <a:endParaRPr lang="en-US" sz="1400" dirty="0"/>
          </a:p>
        </p:txBody>
      </p:sp>
      <p:sp>
        <p:nvSpPr>
          <p:cNvPr id="7" name="Text 4"/>
          <p:cNvSpPr/>
          <p:nvPr/>
        </p:nvSpPr>
        <p:spPr>
          <a:xfrm>
            <a:off x="6254789" y="6534445"/>
            <a:ext cx="7556421" cy="290274"/>
          </a:xfrm>
          <a:prstGeom prst="rect">
            <a:avLst/>
          </a:prstGeom>
          <a:noFill/>
          <a:ln/>
        </p:spPr>
        <p:txBody>
          <a:bodyPr wrap="none" lIns="0" tIns="0" rIns="0" bIns="0" rtlCol="0" anchor="t"/>
          <a:lstStyle/>
          <a:p>
            <a:pPr marL="0" indent="0" algn="l">
              <a:lnSpc>
                <a:spcPts val="2250"/>
              </a:lnSpc>
              <a:buNone/>
            </a:pPr>
            <a:r>
              <a:rPr lang="en-US" sz="1400" dirty="0">
                <a:solidFill>
                  <a:srgbClr val="C9C2C0"/>
                </a:solidFill>
                <a:latin typeface="Gelasio" pitchFamily="34" charset="0"/>
                <a:ea typeface="Gelasio" pitchFamily="34" charset="-122"/>
                <a:cs typeface="Gelasio" pitchFamily="34" charset="-120"/>
              </a:rPr>
              <a:t>CSE/ DVR &amp;</a:t>
            </a:r>
            <a:r>
              <a:rPr lang="en-US" sz="1400" dirty="0" err="1">
                <a:solidFill>
                  <a:srgbClr val="C9C2C0"/>
                </a:solidFill>
                <a:latin typeface="Gelasio" pitchFamily="34" charset="0"/>
                <a:ea typeface="Gelasio" pitchFamily="34" charset="-122"/>
                <a:cs typeface="Gelasio" pitchFamily="34" charset="-120"/>
              </a:rPr>
              <a:t>Dr.HS</a:t>
            </a:r>
            <a:r>
              <a:rPr lang="en-US" sz="1400" dirty="0">
                <a:solidFill>
                  <a:srgbClr val="C9C2C0"/>
                </a:solidFill>
                <a:latin typeface="Gelasio" pitchFamily="34" charset="0"/>
                <a:ea typeface="Gelasio" pitchFamily="34" charset="-122"/>
                <a:cs typeface="Gelasio" pitchFamily="34" charset="-120"/>
              </a:rPr>
              <a:t> MIC COLLEGE OF TECHNOLOGY</a:t>
            </a:r>
            <a:endParaRPr lang="en-US" sz="1400" dirty="0"/>
          </a:p>
        </p:txBody>
      </p:sp>
      <p:sp>
        <p:nvSpPr>
          <p:cNvPr id="9" name="Rectangle: Rounded Corners 8">
            <a:extLst>
              <a:ext uri="{FF2B5EF4-FFF2-40B4-BE49-F238E27FC236}">
                <a16:creationId xmlns:a16="http://schemas.microsoft.com/office/drawing/2014/main" id="{827C0CAD-E6CF-0E7B-27BE-152602137C42}"/>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971794" y="464939"/>
            <a:ext cx="6972181" cy="528042"/>
          </a:xfrm>
          <a:prstGeom prst="rect">
            <a:avLst/>
          </a:prstGeom>
          <a:noFill/>
          <a:ln/>
        </p:spPr>
        <p:txBody>
          <a:bodyPr wrap="none" lIns="0" tIns="0" rIns="0" bIns="0" rtlCol="0" anchor="t"/>
          <a:lstStyle/>
          <a:p>
            <a:pPr marL="0" indent="0" algn="l">
              <a:lnSpc>
                <a:spcPts val="4150"/>
              </a:lnSpc>
              <a:buNone/>
            </a:pPr>
            <a:r>
              <a:rPr lang="en-US" sz="3300" dirty="0">
                <a:solidFill>
                  <a:srgbClr val="D8B6A4"/>
                </a:solidFill>
                <a:latin typeface="Gelasio" pitchFamily="34" charset="0"/>
                <a:ea typeface="Gelasio" pitchFamily="34" charset="-122"/>
                <a:cs typeface="Gelasio" pitchFamily="34" charset="-120"/>
              </a:rPr>
              <a:t>Introduction to QuantumSecure Chat</a:t>
            </a:r>
            <a:endParaRPr lang="en-US" sz="3300" dirty="0"/>
          </a:p>
        </p:txBody>
      </p:sp>
      <p:sp>
        <p:nvSpPr>
          <p:cNvPr id="3" name="Text 1"/>
          <p:cNvSpPr/>
          <p:nvPr/>
        </p:nvSpPr>
        <p:spPr>
          <a:xfrm>
            <a:off x="871277" y="1132880"/>
            <a:ext cx="6322542" cy="810816"/>
          </a:xfrm>
          <a:prstGeom prst="rect">
            <a:avLst/>
          </a:prstGeom>
          <a:noFill/>
          <a:ln/>
        </p:spPr>
        <p:txBody>
          <a:bodyPr wrap="square" lIns="0" tIns="0" rIns="0" bIns="0" rtlCol="0" anchor="t"/>
          <a:lstStyle/>
          <a:p>
            <a:pPr>
              <a:lnSpc>
                <a:spcPts val="2100"/>
              </a:lnSpc>
            </a:pPr>
            <a:r>
              <a:rPr lang="en-US" sz="2000" dirty="0">
                <a:solidFill>
                  <a:srgbClr val="C9C2C0"/>
                </a:solidFill>
                <a:latin typeface="Gelasio" panose="020B0604020202020204" charset="0"/>
                <a:cs typeface="Gelasio" panose="020B0604020202020204" charset="0"/>
              </a:rPr>
              <a:t>Chat apps are common today, but future security is a challenge. Our project addresses this using quantum cryptography.”</a:t>
            </a:r>
          </a:p>
        </p:txBody>
      </p:sp>
      <p:sp>
        <p:nvSpPr>
          <p:cNvPr id="4" name="Text 2"/>
          <p:cNvSpPr/>
          <p:nvPr/>
        </p:nvSpPr>
        <p:spPr>
          <a:xfrm>
            <a:off x="1964173" y="2733913"/>
            <a:ext cx="5137309" cy="540544"/>
          </a:xfrm>
          <a:prstGeom prst="rect">
            <a:avLst/>
          </a:prstGeom>
          <a:noFill/>
          <a:ln/>
        </p:spPr>
        <p:txBody>
          <a:bodyPr wrap="square" lIns="0" tIns="0" rIns="0" bIns="0" rtlCol="0" anchor="t"/>
          <a:lstStyle/>
          <a:p>
            <a:pPr marL="342900" indent="-342900">
              <a:lnSpc>
                <a:spcPts val="2100"/>
              </a:lnSpc>
              <a:buSzPct val="100000"/>
              <a:buChar char="•"/>
            </a:pPr>
            <a:r>
              <a:rPr lang="en-US" sz="1600" dirty="0">
                <a:solidFill>
                  <a:srgbClr val="C9C2C0"/>
                </a:solidFill>
                <a:latin typeface="Gelasio" panose="020B0604020202020204" charset="0"/>
                <a:cs typeface="Gelasio" panose="020B0604020202020204" charset="0"/>
              </a:rPr>
              <a:t>Chat applications are widely used for personal and professional communication</a:t>
            </a:r>
          </a:p>
          <a:p>
            <a:pPr marL="342900" indent="-342900" algn="l">
              <a:lnSpc>
                <a:spcPts val="2100"/>
              </a:lnSpc>
              <a:buSzPct val="100000"/>
              <a:buChar char="•"/>
            </a:pPr>
            <a:endParaRPr lang="en-US" sz="1300" dirty="0"/>
          </a:p>
        </p:txBody>
      </p:sp>
      <p:sp>
        <p:nvSpPr>
          <p:cNvPr id="5" name="Text 3"/>
          <p:cNvSpPr/>
          <p:nvPr/>
        </p:nvSpPr>
        <p:spPr>
          <a:xfrm>
            <a:off x="1964174" y="3384232"/>
            <a:ext cx="5137309" cy="540544"/>
          </a:xfrm>
          <a:prstGeom prst="rect">
            <a:avLst/>
          </a:prstGeom>
          <a:noFill/>
          <a:ln/>
        </p:spPr>
        <p:txBody>
          <a:bodyPr wrap="square" lIns="0" tIns="0" rIns="0" bIns="0" rtlCol="0" anchor="t"/>
          <a:lstStyle/>
          <a:p>
            <a:pPr marL="342900" indent="-342900">
              <a:lnSpc>
                <a:spcPts val="2100"/>
              </a:lnSpc>
              <a:buSzPct val="100000"/>
              <a:buChar char="•"/>
            </a:pPr>
            <a:r>
              <a:rPr lang="en-US" sz="1600" dirty="0">
                <a:solidFill>
                  <a:srgbClr val="C9C2C0"/>
                </a:solidFill>
                <a:latin typeface="Gelasio" panose="020B0604020202020204" charset="0"/>
                <a:cs typeface="Gelasio" panose="020B0604020202020204" charset="0"/>
              </a:rPr>
              <a:t>Protecting message privacy is an important</a:t>
            </a:r>
          </a:p>
          <a:p>
            <a:pPr marL="342900" indent="-342900">
              <a:lnSpc>
                <a:spcPts val="2100"/>
              </a:lnSpc>
              <a:buSzPct val="100000"/>
              <a:buChar char="•"/>
            </a:pPr>
            <a:endParaRPr lang="en-US" sz="1600" dirty="0">
              <a:solidFill>
                <a:srgbClr val="C9C2C0"/>
              </a:solidFill>
              <a:latin typeface="Gelasio" panose="020B0604020202020204" charset="0"/>
              <a:ea typeface="Gelasio" pitchFamily="34" charset="-122"/>
              <a:cs typeface="Gelasio" panose="020B0604020202020204" charset="0"/>
            </a:endParaRPr>
          </a:p>
          <a:p>
            <a:pPr marL="342900" indent="-342900">
              <a:lnSpc>
                <a:spcPts val="2100"/>
              </a:lnSpc>
              <a:buSzPct val="100000"/>
              <a:buFontTx/>
              <a:buChar char="•"/>
            </a:pPr>
            <a:r>
              <a:rPr lang="en-US" sz="1600" dirty="0">
                <a:solidFill>
                  <a:srgbClr val="C9C2C0"/>
                </a:solidFill>
                <a:latin typeface="Gelasio" panose="020B0604020202020204" charset="0"/>
                <a:cs typeface="Gelasio" panose="020B0604020202020204" charset="0"/>
              </a:rPr>
              <a:t>Most existing chat systems use classical encryption techniques</a:t>
            </a:r>
          </a:p>
          <a:p>
            <a:pPr marL="342900" indent="-342900">
              <a:lnSpc>
                <a:spcPts val="2100"/>
              </a:lnSpc>
              <a:buSzPct val="100000"/>
              <a:buFontTx/>
              <a:buChar char="•"/>
            </a:pPr>
            <a:endParaRPr lang="en-US" sz="1600" dirty="0">
              <a:solidFill>
                <a:srgbClr val="C9C2C0"/>
              </a:solidFill>
              <a:latin typeface="Gelasio" panose="020B0604020202020204" charset="0"/>
              <a:cs typeface="Gelasio" panose="020B0604020202020204" charset="0"/>
            </a:endParaRPr>
          </a:p>
          <a:p>
            <a:pPr marL="342900" indent="-342900">
              <a:lnSpc>
                <a:spcPts val="2100"/>
              </a:lnSpc>
              <a:buSzPct val="100000"/>
              <a:buFontTx/>
              <a:buChar char="•"/>
            </a:pPr>
            <a:r>
              <a:rPr lang="en-US" sz="1600" dirty="0">
                <a:solidFill>
                  <a:srgbClr val="C9C2C0"/>
                </a:solidFill>
                <a:latin typeface="Gelasio" panose="020B0604020202020204" charset="0"/>
                <a:cs typeface="Gelasio" panose="020B0604020202020204" charset="0"/>
              </a:rPr>
              <a:t>Quantum computing introduces new security threats to classical encryption</a:t>
            </a:r>
          </a:p>
          <a:p>
            <a:pPr marL="342900" indent="-342900">
              <a:lnSpc>
                <a:spcPts val="2100"/>
              </a:lnSpc>
              <a:buSzPct val="100000"/>
              <a:buFontTx/>
              <a:buChar char="•"/>
            </a:pPr>
            <a:endParaRPr lang="en-US" sz="1600" dirty="0">
              <a:solidFill>
                <a:srgbClr val="C9C2C0"/>
              </a:solidFill>
              <a:latin typeface="Gelasio" panose="020B0604020202020204" charset="0"/>
              <a:cs typeface="Gelasio" panose="020B0604020202020204" charset="0"/>
            </a:endParaRPr>
          </a:p>
          <a:p>
            <a:pPr marL="342900" indent="-342900">
              <a:lnSpc>
                <a:spcPts val="2100"/>
              </a:lnSpc>
              <a:buSzPct val="100000"/>
              <a:buFontTx/>
              <a:buChar char="•"/>
            </a:pPr>
            <a:r>
              <a:rPr lang="en-US" sz="1600" dirty="0">
                <a:solidFill>
                  <a:srgbClr val="C9C2C0"/>
                </a:solidFill>
                <a:latin typeface="Gelasio" panose="020B0604020202020204" charset="0"/>
                <a:cs typeface="Gelasio" panose="020B0604020202020204" charset="0"/>
              </a:rPr>
              <a:t>This project proposes a </a:t>
            </a:r>
            <a:r>
              <a:rPr lang="en-US" sz="1600" b="1" dirty="0" err="1">
                <a:solidFill>
                  <a:srgbClr val="C9C2C0"/>
                </a:solidFill>
                <a:latin typeface="Gelasio" panose="020B0604020202020204" charset="0"/>
                <a:cs typeface="Gelasio" panose="020B0604020202020204" charset="0"/>
              </a:rPr>
              <a:t>QuantumSecure</a:t>
            </a:r>
            <a:r>
              <a:rPr lang="en-US" sz="1600" b="1" dirty="0">
                <a:solidFill>
                  <a:srgbClr val="C9C2C0"/>
                </a:solidFill>
                <a:latin typeface="Gelasio" panose="020B0604020202020204" charset="0"/>
                <a:cs typeface="Gelasio" panose="020B0604020202020204" charset="0"/>
              </a:rPr>
              <a:t> Chat System</a:t>
            </a:r>
            <a:r>
              <a:rPr lang="en-US" sz="1600" dirty="0">
                <a:solidFill>
                  <a:srgbClr val="C9C2C0"/>
                </a:solidFill>
                <a:latin typeface="Gelasio" panose="020B0604020202020204" charset="0"/>
                <a:cs typeface="Gelasio" panose="020B0604020202020204" charset="0"/>
              </a:rPr>
              <a:t> for safer communication</a:t>
            </a:r>
          </a:p>
          <a:p>
            <a:pPr algn="l">
              <a:lnSpc>
                <a:spcPts val="2100"/>
              </a:lnSpc>
              <a:buSzPct val="100000"/>
            </a:pPr>
            <a:endParaRPr lang="en-US" sz="1600" dirty="0">
              <a:latin typeface="Gelasio" panose="020B0604020202020204" charset="0"/>
              <a:cs typeface="Gelasio" panose="020B0604020202020204" charset="0"/>
            </a:endParaRPr>
          </a:p>
        </p:txBody>
      </p:sp>
      <p:pic>
        <p:nvPicPr>
          <p:cNvPr id="6" name="Image 0" descr="preencoded.png"/>
          <p:cNvPicPr>
            <a:picLocks noChangeAspect="1"/>
          </p:cNvPicPr>
          <p:nvPr/>
        </p:nvPicPr>
        <p:blipFill>
          <a:blip r:embed="rId3"/>
          <a:stretch>
            <a:fillRect/>
          </a:stretch>
        </p:blipFill>
        <p:spPr>
          <a:xfrm>
            <a:off x="7528917" y="1436370"/>
            <a:ext cx="5137309" cy="5137309"/>
          </a:xfrm>
          <a:prstGeom prst="rect">
            <a:avLst/>
          </a:prstGeom>
        </p:spPr>
      </p:pic>
      <p:sp>
        <p:nvSpPr>
          <p:cNvPr id="7" name="Text 4"/>
          <p:cNvSpPr/>
          <p:nvPr/>
        </p:nvSpPr>
        <p:spPr>
          <a:xfrm>
            <a:off x="1971794" y="6953726"/>
            <a:ext cx="10686812" cy="810816"/>
          </a:xfrm>
          <a:prstGeom prst="rect">
            <a:avLst/>
          </a:prstGeom>
          <a:noFill/>
          <a:ln/>
        </p:spPr>
        <p:txBody>
          <a:bodyPr wrap="square" lIns="0" tIns="0" rIns="0" bIns="0" rtlCol="0" anchor="t"/>
          <a:lstStyle/>
          <a:p>
            <a:pPr marL="0" indent="0" algn="l">
              <a:lnSpc>
                <a:spcPts val="2100"/>
              </a:lnSpc>
              <a:buNone/>
            </a:pPr>
            <a:r>
              <a:rPr lang="en-US" sz="1300" dirty="0">
                <a:solidFill>
                  <a:srgbClr val="C9C2C0"/>
                </a:solidFill>
                <a:latin typeface="Gelasio" pitchFamily="34" charset="0"/>
                <a:ea typeface="Gelasio" pitchFamily="34" charset="-122"/>
                <a:cs typeface="Gelasio" pitchFamily="34" charset="-120"/>
              </a:rPr>
              <a:t>This project introduces a robust quantum-safe chat system, meticulously designed to counteract these advanced threats. It ingeniously combines the principles of quantum cryptography, specifically the BB84 protocol, with established classical encryption techniques like AES, creating a hybrid solution for unparalleled security.</a:t>
            </a:r>
            <a:endParaRPr lang="en-US" sz="1300" dirty="0"/>
          </a:p>
        </p:txBody>
      </p:sp>
      <p:sp>
        <p:nvSpPr>
          <p:cNvPr id="8" name="Rectangle: Rounded Corners 7">
            <a:extLst>
              <a:ext uri="{FF2B5EF4-FFF2-40B4-BE49-F238E27FC236}">
                <a16:creationId xmlns:a16="http://schemas.microsoft.com/office/drawing/2014/main" id="{31854EBE-514F-F82D-97C2-E24C6D6E4B0E}"/>
              </a:ext>
            </a:extLst>
          </p:cNvPr>
          <p:cNvSpPr/>
          <p:nvPr/>
        </p:nvSpPr>
        <p:spPr>
          <a:xfrm>
            <a:off x="12860867" y="7806266"/>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66922" y="1416963"/>
            <a:ext cx="5769888" cy="533519"/>
          </a:xfrm>
          <a:prstGeom prst="rect">
            <a:avLst/>
          </a:prstGeom>
          <a:noFill/>
          <a:ln/>
        </p:spPr>
        <p:txBody>
          <a:bodyPr wrap="none" lIns="0" tIns="0" rIns="0" bIns="0" rtlCol="0" anchor="t"/>
          <a:lstStyle/>
          <a:p>
            <a:pPr marL="0" indent="0" algn="l">
              <a:lnSpc>
                <a:spcPts val="4200"/>
              </a:lnSpc>
              <a:buNone/>
            </a:pPr>
            <a:r>
              <a:rPr lang="en-US" sz="3350" dirty="0">
                <a:solidFill>
                  <a:srgbClr val="D8B6A4"/>
                </a:solidFill>
                <a:latin typeface="Gelasio" pitchFamily="34" charset="0"/>
                <a:ea typeface="Gelasio" pitchFamily="34" charset="-122"/>
                <a:cs typeface="Gelasio" pitchFamily="34" charset="-120"/>
              </a:rPr>
              <a:t>Problem Statement</a:t>
            </a:r>
            <a:endParaRPr lang="en-US" sz="3350" dirty="0"/>
          </a:p>
        </p:txBody>
      </p:sp>
      <p:sp>
        <p:nvSpPr>
          <p:cNvPr id="11" name="Text 8"/>
          <p:cNvSpPr/>
          <p:nvPr/>
        </p:nvSpPr>
        <p:spPr>
          <a:xfrm>
            <a:off x="10405705" y="2769037"/>
            <a:ext cx="3433762" cy="1092518"/>
          </a:xfrm>
          <a:prstGeom prst="rect">
            <a:avLst/>
          </a:prstGeom>
          <a:noFill/>
          <a:ln/>
        </p:spPr>
        <p:txBody>
          <a:bodyPr wrap="square" lIns="0" tIns="0" rIns="0" bIns="0" rtlCol="0" anchor="t"/>
          <a:lstStyle/>
          <a:p>
            <a:pPr marL="0" indent="0" algn="l">
              <a:lnSpc>
                <a:spcPts val="2150"/>
              </a:lnSpc>
              <a:buNone/>
            </a:pPr>
            <a:endParaRPr lang="en-US" sz="1300" dirty="0"/>
          </a:p>
        </p:txBody>
      </p:sp>
      <p:sp>
        <p:nvSpPr>
          <p:cNvPr id="17" name="Rectangle: Rounded Corners 16">
            <a:extLst>
              <a:ext uri="{FF2B5EF4-FFF2-40B4-BE49-F238E27FC236}">
                <a16:creationId xmlns:a16="http://schemas.microsoft.com/office/drawing/2014/main" id="{DABCB536-305A-810E-DDD6-A050DDBE5065}"/>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EEAB7842-6527-8E24-03CB-B5EE9C855CE9}"/>
              </a:ext>
            </a:extLst>
          </p:cNvPr>
          <p:cNvSpPr txBox="1"/>
          <p:nvPr/>
        </p:nvSpPr>
        <p:spPr>
          <a:xfrm>
            <a:off x="6197600" y="2641600"/>
            <a:ext cx="7886700" cy="4154984"/>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2400" dirty="0">
                <a:solidFill>
                  <a:srgbClr val="C9C2C0"/>
                </a:solidFill>
                <a:latin typeface="Gelasio" panose="020B0604020202020204" charset="0"/>
                <a:cs typeface="Gelasio" panose="020B0604020202020204" charset="0"/>
              </a:rPr>
              <a:t>People use chat apps to send important messages</a:t>
            </a:r>
          </a:p>
          <a:p>
            <a:pPr lvl="0" eaLnBrk="0" fontAlgn="base" hangingPunct="0">
              <a:spcBef>
                <a:spcPct val="0"/>
              </a:spcBef>
              <a:spcAft>
                <a:spcPct val="0"/>
              </a:spcAft>
            </a:pPr>
            <a:endParaRPr lang="en-US" altLang="en-US" sz="2400" dirty="0">
              <a:solidFill>
                <a:srgbClr val="C9C2C0"/>
              </a:solidFill>
              <a:latin typeface="Gelasio" panose="020B0604020202020204" charset="0"/>
              <a:cs typeface="Gelasio" panose="020B0604020202020204" charset="0"/>
            </a:endParaRPr>
          </a:p>
          <a:p>
            <a:pPr lvl="0" eaLnBrk="0" fontAlgn="base" hangingPunct="0">
              <a:spcBef>
                <a:spcPct val="0"/>
              </a:spcBef>
              <a:spcAft>
                <a:spcPct val="0"/>
              </a:spcAft>
              <a:buFontTx/>
              <a:buChar char="•"/>
            </a:pPr>
            <a:r>
              <a:rPr lang="en-US" altLang="en-US" sz="2400" dirty="0">
                <a:solidFill>
                  <a:srgbClr val="C9C2C0"/>
                </a:solidFill>
                <a:latin typeface="Gelasio" panose="020B0604020202020204" charset="0"/>
                <a:cs typeface="Gelasio" panose="020B0604020202020204" charset="0"/>
              </a:rPr>
              <a:t>Messages should be private and safe</a:t>
            </a:r>
          </a:p>
          <a:p>
            <a:pPr lvl="0" eaLnBrk="0" fontAlgn="base" hangingPunct="0">
              <a:spcBef>
                <a:spcPct val="0"/>
              </a:spcBef>
              <a:spcAft>
                <a:spcPct val="0"/>
              </a:spcAft>
            </a:pPr>
            <a:endParaRPr lang="en-US" altLang="en-US" sz="2400" dirty="0">
              <a:solidFill>
                <a:srgbClr val="C9C2C0"/>
              </a:solidFill>
              <a:latin typeface="Gelasio" panose="020B0604020202020204" charset="0"/>
              <a:cs typeface="Gelasio" panose="020B0604020202020204" charset="0"/>
            </a:endParaRPr>
          </a:p>
          <a:p>
            <a:pPr lvl="0" eaLnBrk="0" fontAlgn="base" hangingPunct="0">
              <a:spcBef>
                <a:spcPct val="0"/>
              </a:spcBef>
              <a:spcAft>
                <a:spcPct val="0"/>
              </a:spcAft>
              <a:buFontTx/>
              <a:buChar char="•"/>
            </a:pPr>
            <a:r>
              <a:rPr lang="en-US" altLang="en-US" sz="2400" dirty="0">
                <a:solidFill>
                  <a:srgbClr val="C9C2C0"/>
                </a:solidFill>
                <a:latin typeface="Gelasio" panose="020B0604020202020204" charset="0"/>
                <a:cs typeface="Gelasio" panose="020B0604020202020204" charset="0"/>
              </a:rPr>
              <a:t>Some chat systems do not provide strong security</a:t>
            </a:r>
          </a:p>
          <a:p>
            <a:pPr lvl="0" eaLnBrk="0" fontAlgn="base" hangingPunct="0">
              <a:spcBef>
                <a:spcPct val="0"/>
              </a:spcBef>
              <a:spcAft>
                <a:spcPct val="0"/>
              </a:spcAft>
            </a:pPr>
            <a:endParaRPr lang="en-US" altLang="en-US" sz="2400" dirty="0">
              <a:solidFill>
                <a:srgbClr val="C9C2C0"/>
              </a:solidFill>
              <a:latin typeface="Gelasio" panose="020B0604020202020204" charset="0"/>
              <a:cs typeface="Gelasio" panose="020B0604020202020204" charset="0"/>
            </a:endParaRPr>
          </a:p>
          <a:p>
            <a:pPr lvl="0" eaLnBrk="0" fontAlgn="base" hangingPunct="0">
              <a:spcBef>
                <a:spcPct val="0"/>
              </a:spcBef>
              <a:spcAft>
                <a:spcPct val="0"/>
              </a:spcAft>
              <a:buFontTx/>
              <a:buChar char="•"/>
            </a:pPr>
            <a:r>
              <a:rPr lang="en-US" altLang="en-US" sz="2400" dirty="0">
                <a:solidFill>
                  <a:srgbClr val="C9C2C0"/>
                </a:solidFill>
                <a:latin typeface="Gelasio" panose="020B0604020202020204" charset="0"/>
                <a:cs typeface="Gelasio" panose="020B0604020202020204" charset="0"/>
              </a:rPr>
              <a:t>Old encryption methods may fail in the future</a:t>
            </a:r>
          </a:p>
          <a:p>
            <a:pPr lvl="0" eaLnBrk="0" fontAlgn="base" hangingPunct="0">
              <a:spcBef>
                <a:spcPct val="0"/>
              </a:spcBef>
              <a:spcAft>
                <a:spcPct val="0"/>
              </a:spcAft>
            </a:pPr>
            <a:endParaRPr lang="en-US" altLang="en-US" sz="2400" dirty="0">
              <a:solidFill>
                <a:srgbClr val="C9C2C0"/>
              </a:solidFill>
              <a:latin typeface="Gelasio" panose="020B0604020202020204" charset="0"/>
              <a:cs typeface="Gelasio" panose="020B0604020202020204" charset="0"/>
            </a:endParaRPr>
          </a:p>
          <a:p>
            <a:pPr lvl="0" eaLnBrk="0" fontAlgn="base" hangingPunct="0">
              <a:spcBef>
                <a:spcPct val="0"/>
              </a:spcBef>
              <a:spcAft>
                <a:spcPct val="0"/>
              </a:spcAft>
              <a:buFontTx/>
              <a:buChar char="•"/>
            </a:pPr>
            <a:r>
              <a:rPr lang="en-US" altLang="en-US" sz="2400" dirty="0">
                <a:solidFill>
                  <a:srgbClr val="C9C2C0"/>
                </a:solidFill>
                <a:latin typeface="Gelasio" panose="020B0604020202020204" charset="0"/>
                <a:cs typeface="Gelasio" panose="020B0604020202020204" charset="0"/>
              </a:rPr>
              <a:t>Quantum computers can break old security methods</a:t>
            </a:r>
          </a:p>
          <a:p>
            <a:pPr lvl="0" eaLnBrk="0" fontAlgn="base" hangingPunct="0">
              <a:spcBef>
                <a:spcPct val="0"/>
              </a:spcBef>
              <a:spcAft>
                <a:spcPct val="0"/>
              </a:spcAft>
            </a:pPr>
            <a:endParaRPr lang="en-US" altLang="en-US" sz="2400" dirty="0">
              <a:solidFill>
                <a:srgbClr val="C9C2C0"/>
              </a:solidFill>
              <a:latin typeface="Gelasio" panose="020B0604020202020204" charset="0"/>
              <a:cs typeface="Gelasio" panose="020B0604020202020204" charset="0"/>
            </a:endParaRPr>
          </a:p>
          <a:p>
            <a:pPr lvl="0" eaLnBrk="0" fontAlgn="base" hangingPunct="0">
              <a:spcBef>
                <a:spcPct val="0"/>
              </a:spcBef>
              <a:spcAft>
                <a:spcPct val="0"/>
              </a:spcAft>
              <a:buFontTx/>
              <a:buChar char="•"/>
            </a:pPr>
            <a:r>
              <a:rPr lang="en-US" altLang="en-US" sz="2400" dirty="0">
                <a:solidFill>
                  <a:srgbClr val="C9C2C0"/>
                </a:solidFill>
                <a:latin typeface="Gelasio" panose="020B0604020202020204" charset="0"/>
                <a:cs typeface="Gelasio" panose="020B0604020202020204" charset="0"/>
              </a:rPr>
              <a:t>So, a better and safer chat system is needed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481376" y="507206"/>
            <a:ext cx="4611648" cy="576382"/>
          </a:xfrm>
          <a:prstGeom prst="rect">
            <a:avLst/>
          </a:prstGeom>
          <a:noFill/>
          <a:ln/>
        </p:spPr>
        <p:txBody>
          <a:bodyPr wrap="none" lIns="0" tIns="0" rIns="0" bIns="0" rtlCol="0" anchor="t"/>
          <a:lstStyle/>
          <a:p>
            <a:pPr marL="0" indent="0" algn="l">
              <a:lnSpc>
                <a:spcPts val="4500"/>
              </a:lnSpc>
              <a:buNone/>
            </a:pPr>
            <a:r>
              <a:rPr lang="en-US" sz="3600" dirty="0">
                <a:solidFill>
                  <a:srgbClr val="D8B6A4"/>
                </a:solidFill>
                <a:latin typeface="Gelasio" pitchFamily="34" charset="0"/>
                <a:ea typeface="Gelasio" pitchFamily="34" charset="-122"/>
                <a:cs typeface="Gelasio" pitchFamily="34" charset="-120"/>
              </a:rPr>
              <a:t>Project Objectives</a:t>
            </a:r>
            <a:endParaRPr lang="en-US" sz="3600" dirty="0"/>
          </a:p>
        </p:txBody>
      </p:sp>
      <p:sp>
        <p:nvSpPr>
          <p:cNvPr id="3" name="Shape 1"/>
          <p:cNvSpPr/>
          <p:nvPr/>
        </p:nvSpPr>
        <p:spPr>
          <a:xfrm>
            <a:off x="1481376" y="1452443"/>
            <a:ext cx="737830" cy="1106805"/>
          </a:xfrm>
          <a:prstGeom prst="roundRect">
            <a:avLst>
              <a:gd name="adj" fmla="val 360022"/>
            </a:avLst>
          </a:prstGeom>
          <a:solidFill>
            <a:srgbClr val="373433"/>
          </a:solidFill>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11881" y="1867376"/>
            <a:ext cx="276701" cy="276701"/>
          </a:xfrm>
          <a:prstGeom prst="rect">
            <a:avLst/>
          </a:prstGeom>
        </p:spPr>
      </p:pic>
      <p:sp>
        <p:nvSpPr>
          <p:cNvPr id="5" name="Text 2"/>
          <p:cNvSpPr/>
          <p:nvPr/>
        </p:nvSpPr>
        <p:spPr>
          <a:xfrm>
            <a:off x="2403634" y="1636871"/>
            <a:ext cx="2305764" cy="288250"/>
          </a:xfrm>
          <a:prstGeom prst="rect">
            <a:avLst/>
          </a:prstGeom>
          <a:noFill/>
          <a:ln/>
        </p:spPr>
        <p:txBody>
          <a:bodyPr wrap="none" lIns="0" tIns="0" rIns="0" bIns="0" rtlCol="0" anchor="t"/>
          <a:lstStyle/>
          <a:p>
            <a:pPr marL="0" indent="0" algn="l">
              <a:lnSpc>
                <a:spcPts val="2250"/>
              </a:lnSpc>
              <a:buNone/>
            </a:pPr>
            <a:r>
              <a:rPr lang="en-US" sz="1800" dirty="0">
                <a:solidFill>
                  <a:srgbClr val="C9C2C0"/>
                </a:solidFill>
                <a:latin typeface="Gelasio" pitchFamily="34" charset="0"/>
                <a:ea typeface="Gelasio" pitchFamily="34" charset="-122"/>
                <a:cs typeface="Gelasio" pitchFamily="34" charset="-120"/>
              </a:rPr>
              <a:t>Secure Chat Design</a:t>
            </a:r>
            <a:endParaRPr lang="en-US" sz="1800" dirty="0"/>
          </a:p>
        </p:txBody>
      </p:sp>
      <p:sp>
        <p:nvSpPr>
          <p:cNvPr id="6" name="Text 3"/>
          <p:cNvSpPr/>
          <p:nvPr/>
        </p:nvSpPr>
        <p:spPr>
          <a:xfrm>
            <a:off x="2403634" y="2035731"/>
            <a:ext cx="10745272" cy="295037"/>
          </a:xfrm>
          <a:prstGeom prst="rect">
            <a:avLst/>
          </a:prstGeom>
          <a:noFill/>
          <a:ln/>
        </p:spPr>
        <p:txBody>
          <a:bodyPr wrap="none" lIns="0" tIns="0" rIns="0" bIns="0" rtlCol="0" anchor="t"/>
          <a:lstStyle/>
          <a:p>
            <a:pPr marL="285750" indent="-285750">
              <a:lnSpc>
                <a:spcPts val="2300"/>
              </a:lnSpc>
              <a:buFont typeface="Arial" panose="020B0604020202020204" pitchFamily="34" charset="0"/>
              <a:buChar char="•"/>
            </a:pPr>
            <a:r>
              <a:rPr lang="en-US" sz="1600" dirty="0">
                <a:latin typeface="Gelasio" panose="020B0604020202020204" charset="0"/>
                <a:cs typeface="Gelasio" panose="020B0604020202020204" charset="0"/>
              </a:rPr>
              <a:t>To create a real-time chat application</a:t>
            </a:r>
          </a:p>
          <a:p>
            <a:pPr marL="285750" indent="-285750">
              <a:lnSpc>
                <a:spcPts val="2300"/>
              </a:lnSpc>
              <a:buFont typeface="Arial" panose="020B0604020202020204" pitchFamily="34" charset="0"/>
              <a:buChar char="•"/>
            </a:pPr>
            <a:r>
              <a:rPr lang="en-US" sz="1600" dirty="0">
                <a:latin typeface="Gelasio" panose="020B0604020202020204" charset="0"/>
                <a:cs typeface="Gelasio" panose="020B0604020202020204" charset="0"/>
              </a:rPr>
              <a:t>To ensure messages are safe and private</a:t>
            </a:r>
            <a:endParaRPr lang="en-US" sz="1450" dirty="0">
              <a:latin typeface="Gelasio" panose="020B0604020202020204" charset="0"/>
              <a:cs typeface="Gelasio" panose="020B0604020202020204" charset="0"/>
            </a:endParaRPr>
          </a:p>
        </p:txBody>
      </p:sp>
      <p:sp>
        <p:nvSpPr>
          <p:cNvPr id="7" name="Shape 4"/>
          <p:cNvSpPr/>
          <p:nvPr/>
        </p:nvSpPr>
        <p:spPr>
          <a:xfrm>
            <a:off x="1481376" y="2743676"/>
            <a:ext cx="737830" cy="1106805"/>
          </a:xfrm>
          <a:prstGeom prst="roundRect">
            <a:avLst>
              <a:gd name="adj" fmla="val 360022"/>
            </a:avLst>
          </a:prstGeom>
          <a:solidFill>
            <a:srgbClr val="373433"/>
          </a:solidFill>
          <a:ln/>
        </p:spPr>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11881" y="3158609"/>
            <a:ext cx="276701" cy="276701"/>
          </a:xfrm>
          <a:prstGeom prst="rect">
            <a:avLst/>
          </a:prstGeom>
        </p:spPr>
      </p:pic>
      <p:sp>
        <p:nvSpPr>
          <p:cNvPr id="9" name="Text 5"/>
          <p:cNvSpPr/>
          <p:nvPr/>
        </p:nvSpPr>
        <p:spPr>
          <a:xfrm>
            <a:off x="2403634" y="2928104"/>
            <a:ext cx="2305764" cy="288250"/>
          </a:xfrm>
          <a:prstGeom prst="rect">
            <a:avLst/>
          </a:prstGeom>
          <a:noFill/>
          <a:ln/>
        </p:spPr>
        <p:txBody>
          <a:bodyPr wrap="none" lIns="0" tIns="0" rIns="0" bIns="0" rtlCol="0" anchor="t"/>
          <a:lstStyle/>
          <a:p>
            <a:pPr marL="0" indent="0" algn="l">
              <a:lnSpc>
                <a:spcPts val="2250"/>
              </a:lnSpc>
              <a:buNone/>
            </a:pPr>
            <a:r>
              <a:rPr lang="en-US" sz="1800" dirty="0">
                <a:solidFill>
                  <a:srgbClr val="C9C2C0"/>
                </a:solidFill>
                <a:latin typeface="Gelasio" pitchFamily="34" charset="0"/>
                <a:ea typeface="Gelasio" pitchFamily="34" charset="-122"/>
                <a:cs typeface="Gelasio" pitchFamily="34" charset="-120"/>
              </a:rPr>
              <a:t>BB84 Implementation</a:t>
            </a:r>
            <a:endParaRPr lang="en-US" sz="1800" dirty="0"/>
          </a:p>
        </p:txBody>
      </p:sp>
      <p:sp>
        <p:nvSpPr>
          <p:cNvPr id="10" name="Text 6"/>
          <p:cNvSpPr/>
          <p:nvPr/>
        </p:nvSpPr>
        <p:spPr>
          <a:xfrm>
            <a:off x="2403634" y="3326963"/>
            <a:ext cx="10745272" cy="295037"/>
          </a:xfrm>
          <a:prstGeom prst="rect">
            <a:avLst/>
          </a:prstGeom>
          <a:noFill/>
          <a:ln/>
        </p:spPr>
        <p:txBody>
          <a:bodyPr wrap="none" lIns="0" tIns="0" rIns="0" bIns="0" rtlCol="0" anchor="t"/>
          <a:lstStyle/>
          <a:p>
            <a:pPr marL="285750" indent="-285750">
              <a:lnSpc>
                <a:spcPts val="2300"/>
              </a:lnSpc>
              <a:buFont typeface="Arial" panose="020B0604020202020204" pitchFamily="34" charset="0"/>
              <a:buChar char="•"/>
            </a:pPr>
            <a:r>
              <a:rPr lang="en-US" sz="1600" dirty="0">
                <a:latin typeface="Gelasio" panose="020B0604020202020204" charset="0"/>
                <a:cs typeface="Gelasio" panose="020B0604020202020204" charset="0"/>
              </a:rPr>
              <a:t>To generate secure keys using BB84 protocol</a:t>
            </a:r>
          </a:p>
          <a:p>
            <a:pPr marL="285750" indent="-285750">
              <a:lnSpc>
                <a:spcPts val="2300"/>
              </a:lnSpc>
              <a:buFont typeface="Arial" panose="020B0604020202020204" pitchFamily="34" charset="0"/>
              <a:buChar char="•"/>
            </a:pPr>
            <a:r>
              <a:rPr lang="en-US" sz="1600" dirty="0">
                <a:latin typeface="Gelasio" panose="020B0604020202020204" charset="0"/>
                <a:cs typeface="Gelasio" panose="020B0604020202020204" charset="0"/>
              </a:rPr>
              <a:t>To safely exchange keys between users</a:t>
            </a:r>
            <a:endParaRPr lang="en-US" sz="1450" dirty="0">
              <a:latin typeface="Gelasio" panose="020B0604020202020204" charset="0"/>
              <a:cs typeface="Gelasio" panose="020B0604020202020204" charset="0"/>
            </a:endParaRPr>
          </a:p>
        </p:txBody>
      </p:sp>
      <p:sp>
        <p:nvSpPr>
          <p:cNvPr id="11" name="Shape 7"/>
          <p:cNvSpPr/>
          <p:nvPr/>
        </p:nvSpPr>
        <p:spPr>
          <a:xfrm>
            <a:off x="1481376" y="4034909"/>
            <a:ext cx="737830" cy="1106805"/>
          </a:xfrm>
          <a:prstGeom prst="roundRect">
            <a:avLst>
              <a:gd name="adj" fmla="val 360022"/>
            </a:avLst>
          </a:prstGeom>
          <a:solidFill>
            <a:srgbClr val="373433"/>
          </a:solidFill>
          <a:ln/>
        </p:spPr>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11881" y="4449842"/>
            <a:ext cx="276701" cy="276701"/>
          </a:xfrm>
          <a:prstGeom prst="rect">
            <a:avLst/>
          </a:prstGeom>
        </p:spPr>
      </p:pic>
      <p:sp>
        <p:nvSpPr>
          <p:cNvPr id="13" name="Text 8"/>
          <p:cNvSpPr/>
          <p:nvPr/>
        </p:nvSpPr>
        <p:spPr>
          <a:xfrm>
            <a:off x="2403634" y="4219337"/>
            <a:ext cx="2305764" cy="288250"/>
          </a:xfrm>
          <a:prstGeom prst="rect">
            <a:avLst/>
          </a:prstGeom>
          <a:noFill/>
          <a:ln/>
        </p:spPr>
        <p:txBody>
          <a:bodyPr wrap="none" lIns="0" tIns="0" rIns="0" bIns="0" rtlCol="0" anchor="t"/>
          <a:lstStyle/>
          <a:p>
            <a:pPr marL="0" indent="0" algn="l">
              <a:lnSpc>
                <a:spcPts val="2250"/>
              </a:lnSpc>
              <a:buNone/>
            </a:pPr>
            <a:r>
              <a:rPr lang="en-US" sz="1800" dirty="0">
                <a:solidFill>
                  <a:srgbClr val="C9C2C0"/>
                </a:solidFill>
                <a:latin typeface="Gelasio" pitchFamily="34" charset="0"/>
                <a:ea typeface="Gelasio" pitchFamily="34" charset="-122"/>
                <a:cs typeface="Gelasio" pitchFamily="34" charset="-120"/>
              </a:rPr>
              <a:t>AES Encryption</a:t>
            </a:r>
            <a:endParaRPr lang="en-US" sz="1800" dirty="0"/>
          </a:p>
        </p:txBody>
      </p:sp>
      <p:sp>
        <p:nvSpPr>
          <p:cNvPr id="14" name="Text 9"/>
          <p:cNvSpPr/>
          <p:nvPr/>
        </p:nvSpPr>
        <p:spPr>
          <a:xfrm>
            <a:off x="2403634" y="4618196"/>
            <a:ext cx="10745272" cy="295037"/>
          </a:xfrm>
          <a:prstGeom prst="rect">
            <a:avLst/>
          </a:prstGeom>
          <a:noFill/>
          <a:ln/>
        </p:spPr>
        <p:txBody>
          <a:bodyPr wrap="none" lIns="0" tIns="0" rIns="0" bIns="0" rtlCol="0" anchor="t"/>
          <a:lstStyle/>
          <a:p>
            <a:pPr marL="285750" indent="-285750">
              <a:lnSpc>
                <a:spcPts val="2300"/>
              </a:lnSpc>
              <a:buFont typeface="Arial" panose="020B0604020202020204" pitchFamily="34" charset="0"/>
              <a:buChar char="•"/>
            </a:pPr>
            <a:r>
              <a:rPr lang="en-IN" sz="1600" dirty="0">
                <a:latin typeface="Gelasio" panose="020B0604020202020204" charset="0"/>
                <a:cs typeface="Gelasio" panose="020B0604020202020204" charset="0"/>
              </a:rPr>
              <a:t>To encrypt messages before sending</a:t>
            </a:r>
          </a:p>
          <a:p>
            <a:pPr marL="285750" indent="-285750">
              <a:lnSpc>
                <a:spcPts val="2300"/>
              </a:lnSpc>
              <a:buFont typeface="Arial" panose="020B0604020202020204" pitchFamily="34" charset="0"/>
              <a:buChar char="•"/>
            </a:pPr>
            <a:r>
              <a:rPr lang="en-US" sz="1600" dirty="0">
                <a:latin typeface="Gelasio" panose="020B0604020202020204" charset="0"/>
                <a:cs typeface="Gelasio" panose="020B0604020202020204" charset="0"/>
              </a:rPr>
              <a:t>To protect messages from unauthorized access</a:t>
            </a:r>
            <a:endParaRPr lang="en-US" sz="1450" dirty="0">
              <a:latin typeface="Gelasio" panose="020B0604020202020204" charset="0"/>
              <a:cs typeface="Gelasio" panose="020B0604020202020204" charset="0"/>
            </a:endParaRPr>
          </a:p>
        </p:txBody>
      </p:sp>
      <p:sp>
        <p:nvSpPr>
          <p:cNvPr id="15" name="Shape 10"/>
          <p:cNvSpPr/>
          <p:nvPr/>
        </p:nvSpPr>
        <p:spPr>
          <a:xfrm>
            <a:off x="1481376" y="5326142"/>
            <a:ext cx="737830" cy="1106805"/>
          </a:xfrm>
          <a:prstGeom prst="roundRect">
            <a:avLst>
              <a:gd name="adj" fmla="val 360022"/>
            </a:avLst>
          </a:prstGeom>
          <a:solidFill>
            <a:srgbClr val="373433"/>
          </a:solidFill>
          <a:ln/>
        </p:spPr>
      </p:sp>
      <p:pic>
        <p:nvPicPr>
          <p:cNvPr id="1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11881" y="5741075"/>
            <a:ext cx="276701" cy="276701"/>
          </a:xfrm>
          <a:prstGeom prst="rect">
            <a:avLst/>
          </a:prstGeom>
        </p:spPr>
      </p:pic>
      <p:sp>
        <p:nvSpPr>
          <p:cNvPr id="17" name="Text 11"/>
          <p:cNvSpPr/>
          <p:nvPr/>
        </p:nvSpPr>
        <p:spPr>
          <a:xfrm>
            <a:off x="2403634" y="5510570"/>
            <a:ext cx="2305764" cy="288250"/>
          </a:xfrm>
          <a:prstGeom prst="rect">
            <a:avLst/>
          </a:prstGeom>
          <a:noFill/>
          <a:ln/>
        </p:spPr>
        <p:txBody>
          <a:bodyPr wrap="none" lIns="0" tIns="0" rIns="0" bIns="0" rtlCol="0" anchor="t"/>
          <a:lstStyle/>
          <a:p>
            <a:pPr marL="0" indent="0" algn="l">
              <a:lnSpc>
                <a:spcPts val="2250"/>
              </a:lnSpc>
              <a:buNone/>
            </a:pPr>
            <a:r>
              <a:rPr lang="en-US" sz="1800" dirty="0">
                <a:solidFill>
                  <a:srgbClr val="C9C2C0"/>
                </a:solidFill>
                <a:latin typeface="Gelasio" pitchFamily="34" charset="0"/>
                <a:ea typeface="Gelasio" pitchFamily="34" charset="-122"/>
                <a:cs typeface="Gelasio" pitchFamily="34" charset="-120"/>
              </a:rPr>
              <a:t>Shor’s Demonstration</a:t>
            </a:r>
            <a:endParaRPr lang="en-US" sz="1800" dirty="0"/>
          </a:p>
        </p:txBody>
      </p:sp>
      <p:sp>
        <p:nvSpPr>
          <p:cNvPr id="18" name="Text 12"/>
          <p:cNvSpPr/>
          <p:nvPr/>
        </p:nvSpPr>
        <p:spPr>
          <a:xfrm>
            <a:off x="2403634" y="5909429"/>
            <a:ext cx="10745272" cy="295037"/>
          </a:xfrm>
          <a:prstGeom prst="rect">
            <a:avLst/>
          </a:prstGeom>
          <a:noFill/>
          <a:ln/>
        </p:spPr>
        <p:txBody>
          <a:bodyPr wrap="none" lIns="0" tIns="0" rIns="0" bIns="0" rtlCol="0" anchor="t"/>
          <a:lstStyle/>
          <a:p>
            <a:pPr marL="285750" indent="-285750">
              <a:lnSpc>
                <a:spcPts val="2300"/>
              </a:lnSpc>
              <a:buFont typeface="Arial" panose="020B0604020202020204" pitchFamily="34" charset="0"/>
              <a:buChar char="•"/>
            </a:pPr>
            <a:r>
              <a:rPr lang="en-US" sz="1600" dirty="0">
                <a:latin typeface="Gelasio" panose="020B0604020202020204" charset="0"/>
                <a:cs typeface="Gelasio" panose="020B0604020202020204" charset="0"/>
              </a:rPr>
              <a:t>To show how RSA encryption can be broken</a:t>
            </a:r>
          </a:p>
          <a:p>
            <a:pPr marL="285750" indent="-285750">
              <a:lnSpc>
                <a:spcPts val="2300"/>
              </a:lnSpc>
              <a:buFont typeface="Arial" panose="020B0604020202020204" pitchFamily="34" charset="0"/>
              <a:buChar char="•"/>
            </a:pPr>
            <a:r>
              <a:rPr lang="en-US" sz="1600" dirty="0">
                <a:latin typeface="Gelasio" panose="020B0604020202020204" charset="0"/>
                <a:cs typeface="Gelasio" panose="020B0604020202020204" charset="0"/>
              </a:rPr>
              <a:t>To explain future security risks using quantum computing</a:t>
            </a:r>
            <a:endParaRPr lang="en-US" sz="1450" dirty="0">
              <a:latin typeface="Gelasio" panose="020B0604020202020204" charset="0"/>
              <a:cs typeface="Gelasio" panose="020B0604020202020204" charset="0"/>
            </a:endParaRPr>
          </a:p>
        </p:txBody>
      </p:sp>
      <p:sp>
        <p:nvSpPr>
          <p:cNvPr id="19" name="Shape 13"/>
          <p:cNvSpPr/>
          <p:nvPr/>
        </p:nvSpPr>
        <p:spPr>
          <a:xfrm>
            <a:off x="1481376" y="6617375"/>
            <a:ext cx="737830" cy="1106805"/>
          </a:xfrm>
          <a:prstGeom prst="roundRect">
            <a:avLst>
              <a:gd name="adj" fmla="val 360022"/>
            </a:avLst>
          </a:prstGeom>
          <a:solidFill>
            <a:srgbClr val="373433"/>
          </a:solidFill>
          <a:ln/>
        </p:spPr>
      </p:sp>
      <p:pic>
        <p:nvPicPr>
          <p:cNvPr id="20"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11881" y="7032308"/>
            <a:ext cx="276701" cy="276701"/>
          </a:xfrm>
          <a:prstGeom prst="rect">
            <a:avLst/>
          </a:prstGeom>
        </p:spPr>
      </p:pic>
      <p:sp>
        <p:nvSpPr>
          <p:cNvPr id="21" name="Text 14"/>
          <p:cNvSpPr/>
          <p:nvPr/>
        </p:nvSpPr>
        <p:spPr>
          <a:xfrm>
            <a:off x="2403634" y="6801803"/>
            <a:ext cx="2305764" cy="288250"/>
          </a:xfrm>
          <a:prstGeom prst="rect">
            <a:avLst/>
          </a:prstGeom>
          <a:noFill/>
          <a:ln/>
        </p:spPr>
        <p:txBody>
          <a:bodyPr wrap="none" lIns="0" tIns="0" rIns="0" bIns="0" rtlCol="0" anchor="t"/>
          <a:lstStyle/>
          <a:p>
            <a:pPr marL="0" indent="0" algn="l">
              <a:lnSpc>
                <a:spcPts val="2250"/>
              </a:lnSpc>
              <a:buNone/>
            </a:pPr>
            <a:r>
              <a:rPr lang="en-US" sz="1800" dirty="0">
                <a:solidFill>
                  <a:srgbClr val="C9C2C0"/>
                </a:solidFill>
                <a:latin typeface="Gelasio" pitchFamily="34" charset="0"/>
                <a:ea typeface="Gelasio" pitchFamily="34" charset="-122"/>
                <a:cs typeface="Gelasio" pitchFamily="34" charset="-120"/>
              </a:rPr>
              <a:t>Docker Deployment</a:t>
            </a:r>
            <a:endParaRPr lang="en-US" sz="1800" dirty="0"/>
          </a:p>
        </p:txBody>
      </p:sp>
      <p:sp>
        <p:nvSpPr>
          <p:cNvPr id="22" name="Text 15"/>
          <p:cNvSpPr/>
          <p:nvPr/>
        </p:nvSpPr>
        <p:spPr>
          <a:xfrm>
            <a:off x="2403634" y="7200662"/>
            <a:ext cx="10745272" cy="295037"/>
          </a:xfrm>
          <a:prstGeom prst="rect">
            <a:avLst/>
          </a:prstGeom>
          <a:noFill/>
          <a:ln/>
        </p:spPr>
        <p:txBody>
          <a:bodyPr wrap="none" lIns="0" tIns="0" rIns="0" bIns="0" rtlCol="0" anchor="t"/>
          <a:lstStyle/>
          <a:p>
            <a:pPr marL="285750" indent="-285750">
              <a:lnSpc>
                <a:spcPts val="2300"/>
              </a:lnSpc>
              <a:buFont typeface="Arial" panose="020B0604020202020204" pitchFamily="34" charset="0"/>
              <a:buChar char="•"/>
            </a:pPr>
            <a:r>
              <a:rPr lang="en-US" sz="1600" dirty="0">
                <a:latin typeface="Gelasio" panose="020B0604020202020204" charset="0"/>
                <a:cs typeface="Gelasio" panose="020B0604020202020204" charset="0"/>
              </a:rPr>
              <a:t>To run the project using Docker containers</a:t>
            </a:r>
          </a:p>
          <a:p>
            <a:pPr marL="285750" indent="-285750">
              <a:lnSpc>
                <a:spcPts val="2300"/>
              </a:lnSpc>
              <a:buFont typeface="Arial" panose="020B0604020202020204" pitchFamily="34" charset="0"/>
              <a:buChar char="•"/>
            </a:pPr>
            <a:r>
              <a:rPr lang="en-US" sz="1600" dirty="0">
                <a:latin typeface="Gelasio" panose="020B0604020202020204" charset="0"/>
                <a:cs typeface="Gelasio" panose="020B0604020202020204" charset="0"/>
              </a:rPr>
              <a:t>To make the system easy to deploy and manage</a:t>
            </a:r>
            <a:endParaRPr lang="en-US" sz="1450" dirty="0">
              <a:latin typeface="Gelasio" panose="020B0604020202020204" charset="0"/>
              <a:cs typeface="Gelasio" panose="020B0604020202020204" charset="0"/>
            </a:endParaRPr>
          </a:p>
        </p:txBody>
      </p:sp>
      <p:sp>
        <p:nvSpPr>
          <p:cNvPr id="23" name="Rectangle: Rounded Corners 22">
            <a:extLst>
              <a:ext uri="{FF2B5EF4-FFF2-40B4-BE49-F238E27FC236}">
                <a16:creationId xmlns:a16="http://schemas.microsoft.com/office/drawing/2014/main" id="{63D37DC4-3100-41CA-7B02-243B2DB7A67E}"/>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68405" y="634892"/>
            <a:ext cx="7057311" cy="545902"/>
          </a:xfrm>
          <a:prstGeom prst="rect">
            <a:avLst/>
          </a:prstGeom>
          <a:noFill/>
          <a:ln/>
        </p:spPr>
        <p:txBody>
          <a:bodyPr wrap="none" lIns="0" tIns="0" rIns="0" bIns="0" rtlCol="0" anchor="t"/>
          <a:lstStyle/>
          <a:p>
            <a:pPr marL="0" indent="0" algn="l">
              <a:lnSpc>
                <a:spcPts val="4250"/>
              </a:lnSpc>
              <a:buNone/>
            </a:pPr>
            <a:r>
              <a:rPr lang="en-US" sz="3400" dirty="0">
                <a:solidFill>
                  <a:srgbClr val="D8B6A4"/>
                </a:solidFill>
                <a:latin typeface="Gelasio" pitchFamily="34" charset="0"/>
                <a:ea typeface="Gelasio" pitchFamily="34" charset="-122"/>
                <a:cs typeface="Gelasio" pitchFamily="34" charset="-120"/>
              </a:rPr>
              <a:t>Scope of the QuantumSecure Project</a:t>
            </a:r>
            <a:endParaRPr lang="en-US" sz="3400" dirty="0"/>
          </a:p>
        </p:txBody>
      </p:sp>
      <p:sp>
        <p:nvSpPr>
          <p:cNvPr id="3" name="Text 1"/>
          <p:cNvSpPr/>
          <p:nvPr/>
        </p:nvSpPr>
        <p:spPr>
          <a:xfrm>
            <a:off x="368405" y="1997351"/>
            <a:ext cx="5311378" cy="279440"/>
          </a:xfrm>
          <a:prstGeom prst="rect">
            <a:avLst/>
          </a:prstGeom>
          <a:noFill/>
          <a:ln/>
        </p:spPr>
        <p:txBody>
          <a:bodyPr wrap="none" lIns="0" tIns="0" rIns="0" bIns="0" rtlCol="0" anchor="t"/>
          <a:lstStyle/>
          <a:p>
            <a:pPr marL="342900" indent="-342900">
              <a:lnSpc>
                <a:spcPts val="2200"/>
              </a:lnSpc>
              <a:buSzPct val="100000"/>
              <a:buChar char="•"/>
            </a:pPr>
            <a:r>
              <a:rPr lang="en-US" sz="2000" dirty="0">
                <a:solidFill>
                  <a:srgbClr val="C9C2C0"/>
                </a:solidFill>
                <a:latin typeface="Gelasio" pitchFamily="34" charset="0"/>
                <a:ea typeface="Gelasio" pitchFamily="34" charset="-122"/>
                <a:cs typeface="Gelasio" pitchFamily="34" charset="-120"/>
              </a:rPr>
              <a:t>The project supports one-to-one real-time chat between users</a:t>
            </a:r>
          </a:p>
          <a:p>
            <a:pPr marL="342900" indent="-342900">
              <a:lnSpc>
                <a:spcPts val="2200"/>
              </a:lnSpc>
              <a:buSzPct val="100000"/>
              <a:buChar char="•"/>
            </a:pPr>
            <a:endParaRPr lang="en-US" sz="2000" dirty="0">
              <a:solidFill>
                <a:srgbClr val="C9C2C0"/>
              </a:solidFill>
              <a:latin typeface="Gelasio" pitchFamily="34" charset="0"/>
              <a:ea typeface="Gelasio" pitchFamily="34" charset="-122"/>
              <a:cs typeface="Gelasio" pitchFamily="34" charset="-120"/>
            </a:endParaRPr>
          </a:p>
          <a:p>
            <a:pPr marL="342900" indent="-342900">
              <a:lnSpc>
                <a:spcPts val="2200"/>
              </a:lnSpc>
              <a:buSzPct val="100000"/>
              <a:buChar char="•"/>
            </a:pPr>
            <a:r>
              <a:rPr lang="en-US" sz="2000" dirty="0">
                <a:solidFill>
                  <a:srgbClr val="C9C2C0"/>
                </a:solidFill>
                <a:latin typeface="Gelasio" pitchFamily="34" charset="0"/>
                <a:ea typeface="Gelasio" pitchFamily="34" charset="-122"/>
                <a:cs typeface="Gelasio" pitchFamily="34" charset="-120"/>
              </a:rPr>
              <a:t>It uses BB84 protocol to securely generate and share encryption keys</a:t>
            </a:r>
          </a:p>
          <a:p>
            <a:pPr marL="342900" indent="-342900">
              <a:lnSpc>
                <a:spcPts val="2200"/>
              </a:lnSpc>
              <a:buSzPct val="100000"/>
              <a:buChar char="•"/>
            </a:pPr>
            <a:endParaRPr lang="en-US" sz="2000" dirty="0">
              <a:solidFill>
                <a:srgbClr val="C9C2C0"/>
              </a:solidFill>
              <a:latin typeface="Gelasio" pitchFamily="34" charset="0"/>
              <a:ea typeface="Gelasio" pitchFamily="34" charset="-122"/>
              <a:cs typeface="Gelasio" pitchFamily="34" charset="-120"/>
            </a:endParaRPr>
          </a:p>
          <a:p>
            <a:pPr marL="342900" indent="-342900">
              <a:lnSpc>
                <a:spcPts val="2200"/>
              </a:lnSpc>
              <a:buSzPct val="100000"/>
              <a:buChar char="•"/>
            </a:pPr>
            <a:r>
              <a:rPr lang="en-US" sz="2000" dirty="0">
                <a:solidFill>
                  <a:srgbClr val="C9C2C0"/>
                </a:solidFill>
                <a:latin typeface="Gelasio" pitchFamily="34" charset="0"/>
                <a:ea typeface="Gelasio" pitchFamily="34" charset="-122"/>
                <a:cs typeface="Gelasio" pitchFamily="34" charset="-120"/>
              </a:rPr>
              <a:t>Messages are encrypted and decrypted to protect privacy</a:t>
            </a:r>
          </a:p>
          <a:p>
            <a:pPr marL="342900" indent="-342900">
              <a:lnSpc>
                <a:spcPts val="2200"/>
              </a:lnSpc>
              <a:buSzPct val="100000"/>
              <a:buChar char="•"/>
            </a:pPr>
            <a:endParaRPr lang="en-US" sz="2000" dirty="0">
              <a:solidFill>
                <a:srgbClr val="C9C2C0"/>
              </a:solidFill>
              <a:latin typeface="Gelasio" pitchFamily="34" charset="0"/>
              <a:ea typeface="Gelasio" pitchFamily="34" charset="-122"/>
              <a:cs typeface="Gelasio" pitchFamily="34" charset="-120"/>
            </a:endParaRPr>
          </a:p>
          <a:p>
            <a:pPr marL="342900" indent="-342900">
              <a:lnSpc>
                <a:spcPts val="2200"/>
              </a:lnSpc>
              <a:buSzPct val="100000"/>
              <a:buChar char="•"/>
            </a:pPr>
            <a:r>
              <a:rPr lang="en-US" sz="2000" dirty="0">
                <a:solidFill>
                  <a:srgbClr val="C9C2C0"/>
                </a:solidFill>
                <a:latin typeface="Gelasio" pitchFamily="34" charset="0"/>
                <a:ea typeface="Gelasio" pitchFamily="34" charset="-122"/>
                <a:cs typeface="Gelasio" pitchFamily="34" charset="-120"/>
              </a:rPr>
              <a:t>The backend server logs messages for monitoring and learning purposes</a:t>
            </a:r>
          </a:p>
          <a:p>
            <a:pPr marL="342900" indent="-342900">
              <a:lnSpc>
                <a:spcPts val="2200"/>
              </a:lnSpc>
              <a:buSzPct val="100000"/>
              <a:buChar char="•"/>
            </a:pPr>
            <a:endParaRPr lang="en-US" sz="2000" dirty="0">
              <a:solidFill>
                <a:srgbClr val="C9C2C0"/>
              </a:solidFill>
              <a:latin typeface="Gelasio" pitchFamily="34" charset="0"/>
              <a:ea typeface="Gelasio" pitchFamily="34" charset="-122"/>
              <a:cs typeface="Gelasio" pitchFamily="34" charset="-120"/>
            </a:endParaRPr>
          </a:p>
          <a:p>
            <a:pPr marL="342900" indent="-342900">
              <a:lnSpc>
                <a:spcPts val="2200"/>
              </a:lnSpc>
              <a:buSzPct val="100000"/>
              <a:buChar char="•"/>
            </a:pPr>
            <a:r>
              <a:rPr lang="en-US" sz="2000" dirty="0">
                <a:solidFill>
                  <a:srgbClr val="C9C2C0"/>
                </a:solidFill>
                <a:latin typeface="Gelasio" pitchFamily="34" charset="0"/>
                <a:ea typeface="Gelasio" pitchFamily="34" charset="-122"/>
                <a:cs typeface="Gelasio" pitchFamily="34" charset="-120"/>
              </a:rPr>
              <a:t>The project includes a Shor’s Algorithm demo to show how classical</a:t>
            </a:r>
          </a:p>
          <a:p>
            <a:pPr>
              <a:lnSpc>
                <a:spcPts val="2200"/>
              </a:lnSpc>
              <a:buSzPct val="100000"/>
            </a:pPr>
            <a:r>
              <a:rPr lang="en-US" sz="2000" dirty="0">
                <a:solidFill>
                  <a:srgbClr val="C9C2C0"/>
                </a:solidFill>
                <a:latin typeface="Gelasio" pitchFamily="34" charset="0"/>
                <a:ea typeface="Gelasio" pitchFamily="34" charset="-122"/>
                <a:cs typeface="Gelasio" pitchFamily="34" charset="-120"/>
              </a:rPr>
              <a:t>      encryption can be broken</a:t>
            </a:r>
          </a:p>
          <a:p>
            <a:pPr>
              <a:lnSpc>
                <a:spcPts val="2200"/>
              </a:lnSpc>
              <a:buSzPct val="100000"/>
            </a:pPr>
            <a:endParaRPr lang="en-US" sz="2000" dirty="0">
              <a:solidFill>
                <a:srgbClr val="C9C2C0"/>
              </a:solidFill>
              <a:latin typeface="Gelasio" pitchFamily="34" charset="0"/>
              <a:ea typeface="Gelasio" pitchFamily="34" charset="-122"/>
              <a:cs typeface="Gelasio" pitchFamily="34" charset="-120"/>
            </a:endParaRPr>
          </a:p>
          <a:p>
            <a:pPr marL="342900" indent="-342900">
              <a:lnSpc>
                <a:spcPts val="2200"/>
              </a:lnSpc>
              <a:buSzPct val="100000"/>
              <a:buChar char="•"/>
            </a:pPr>
            <a:r>
              <a:rPr lang="en-US" sz="2000" dirty="0">
                <a:solidFill>
                  <a:srgbClr val="C9C2C0"/>
                </a:solidFill>
                <a:latin typeface="Gelasio" pitchFamily="34" charset="0"/>
                <a:ea typeface="Gelasio" pitchFamily="34" charset="-122"/>
                <a:cs typeface="Gelasio" pitchFamily="34" charset="-120"/>
              </a:rPr>
              <a:t>The system is designed mainly for academic and research purposes.</a:t>
            </a:r>
            <a:endParaRPr lang="en-US" sz="2000" dirty="0"/>
          </a:p>
        </p:txBody>
      </p:sp>
      <p:sp>
        <p:nvSpPr>
          <p:cNvPr id="4" name="Text 2"/>
          <p:cNvSpPr/>
          <p:nvPr/>
        </p:nvSpPr>
        <p:spPr>
          <a:xfrm>
            <a:off x="1790700" y="1786533"/>
            <a:ext cx="5311378" cy="558879"/>
          </a:xfrm>
          <a:prstGeom prst="rect">
            <a:avLst/>
          </a:prstGeom>
          <a:noFill/>
          <a:ln/>
        </p:spPr>
        <p:txBody>
          <a:bodyPr wrap="square" lIns="0" tIns="0" rIns="0" bIns="0" rtlCol="0" anchor="t"/>
          <a:lstStyle/>
          <a:p>
            <a:pPr marL="342900" indent="-342900" algn="l">
              <a:lnSpc>
                <a:spcPts val="2200"/>
              </a:lnSpc>
              <a:buSzPct val="100000"/>
              <a:buChar char="•"/>
            </a:pPr>
            <a:endParaRPr lang="en-US" sz="1350" dirty="0"/>
          </a:p>
        </p:txBody>
      </p:sp>
      <p:sp>
        <p:nvSpPr>
          <p:cNvPr id="5" name="Text 3"/>
          <p:cNvSpPr/>
          <p:nvPr/>
        </p:nvSpPr>
        <p:spPr>
          <a:xfrm>
            <a:off x="1790700" y="2406491"/>
            <a:ext cx="5311378" cy="558879"/>
          </a:xfrm>
          <a:prstGeom prst="rect">
            <a:avLst/>
          </a:prstGeom>
          <a:noFill/>
          <a:ln/>
        </p:spPr>
        <p:txBody>
          <a:bodyPr wrap="square" lIns="0" tIns="0" rIns="0" bIns="0" rtlCol="0" anchor="t"/>
          <a:lstStyle/>
          <a:p>
            <a:pPr marL="342900" indent="-342900" algn="l">
              <a:lnSpc>
                <a:spcPts val="2200"/>
              </a:lnSpc>
              <a:buSzPct val="100000"/>
              <a:buChar char="•"/>
            </a:pPr>
            <a:endParaRPr lang="en-US" sz="1350" dirty="0"/>
          </a:p>
        </p:txBody>
      </p:sp>
      <p:sp>
        <p:nvSpPr>
          <p:cNvPr id="6" name="Text 4"/>
          <p:cNvSpPr/>
          <p:nvPr/>
        </p:nvSpPr>
        <p:spPr>
          <a:xfrm>
            <a:off x="1790700" y="3026450"/>
            <a:ext cx="5311378" cy="279440"/>
          </a:xfrm>
          <a:prstGeom prst="rect">
            <a:avLst/>
          </a:prstGeom>
          <a:noFill/>
          <a:ln/>
        </p:spPr>
        <p:txBody>
          <a:bodyPr wrap="none" lIns="0" tIns="0" rIns="0" bIns="0" rtlCol="0" anchor="t"/>
          <a:lstStyle/>
          <a:p>
            <a:pPr marL="342900" indent="-342900" algn="l">
              <a:lnSpc>
                <a:spcPts val="2200"/>
              </a:lnSpc>
              <a:buSzPct val="100000"/>
              <a:buChar char="•"/>
            </a:pPr>
            <a:endParaRPr lang="en-US" sz="1350" dirty="0"/>
          </a:p>
        </p:txBody>
      </p:sp>
      <p:sp>
        <p:nvSpPr>
          <p:cNvPr id="7" name="Text 5"/>
          <p:cNvSpPr/>
          <p:nvPr/>
        </p:nvSpPr>
        <p:spPr>
          <a:xfrm>
            <a:off x="1790700" y="3366968"/>
            <a:ext cx="5311378" cy="558879"/>
          </a:xfrm>
          <a:prstGeom prst="rect">
            <a:avLst/>
          </a:prstGeom>
          <a:noFill/>
          <a:ln/>
        </p:spPr>
        <p:txBody>
          <a:bodyPr wrap="square" lIns="0" tIns="0" rIns="0" bIns="0" rtlCol="0" anchor="t"/>
          <a:lstStyle/>
          <a:p>
            <a:pPr marL="342900" indent="-342900" algn="l">
              <a:lnSpc>
                <a:spcPts val="2200"/>
              </a:lnSpc>
              <a:buSzPct val="100000"/>
              <a:buChar char="•"/>
            </a:pPr>
            <a:endParaRPr lang="en-US" sz="1350" dirty="0"/>
          </a:p>
        </p:txBody>
      </p:sp>
      <p:sp>
        <p:nvSpPr>
          <p:cNvPr id="8" name="Text 6"/>
          <p:cNvSpPr/>
          <p:nvPr/>
        </p:nvSpPr>
        <p:spPr>
          <a:xfrm>
            <a:off x="1790700" y="3986927"/>
            <a:ext cx="5311378" cy="558879"/>
          </a:xfrm>
          <a:prstGeom prst="rect">
            <a:avLst/>
          </a:prstGeom>
          <a:noFill/>
          <a:ln/>
        </p:spPr>
        <p:txBody>
          <a:bodyPr wrap="square" lIns="0" tIns="0" rIns="0" bIns="0" rtlCol="0" anchor="t"/>
          <a:lstStyle/>
          <a:p>
            <a:pPr marL="342900" indent="-342900" algn="l">
              <a:lnSpc>
                <a:spcPts val="2200"/>
              </a:lnSpc>
              <a:buSzPct val="100000"/>
              <a:buChar char="•"/>
            </a:pPr>
            <a:endParaRPr lang="en-US" sz="1350" dirty="0"/>
          </a:p>
        </p:txBody>
      </p:sp>
      <p:pic>
        <p:nvPicPr>
          <p:cNvPr id="9" name="Image 0" descr="preencoded.png"/>
          <p:cNvPicPr>
            <a:picLocks noChangeAspect="1"/>
          </p:cNvPicPr>
          <p:nvPr/>
        </p:nvPicPr>
        <p:blipFill>
          <a:blip r:embed="rId3"/>
          <a:stretch>
            <a:fillRect/>
          </a:stretch>
        </p:blipFill>
        <p:spPr>
          <a:xfrm>
            <a:off x="8950617" y="298383"/>
            <a:ext cx="5311378" cy="6631806"/>
          </a:xfrm>
          <a:prstGeom prst="rect">
            <a:avLst/>
          </a:prstGeom>
        </p:spPr>
      </p:pic>
      <p:sp>
        <p:nvSpPr>
          <p:cNvPr id="10" name="Text 7"/>
          <p:cNvSpPr/>
          <p:nvPr/>
        </p:nvSpPr>
        <p:spPr>
          <a:xfrm>
            <a:off x="1790700" y="7189589"/>
            <a:ext cx="11048881" cy="558879"/>
          </a:xfrm>
          <a:prstGeom prst="rect">
            <a:avLst/>
          </a:prstGeom>
          <a:noFill/>
          <a:ln/>
        </p:spPr>
        <p:txBody>
          <a:bodyPr wrap="square" lIns="0" tIns="0" rIns="0" bIns="0" rtlCol="0" anchor="t"/>
          <a:lstStyle/>
          <a:p>
            <a:pPr marL="0" indent="0" algn="l">
              <a:lnSpc>
                <a:spcPts val="2200"/>
              </a:lnSpc>
              <a:buNone/>
            </a:pPr>
            <a:r>
              <a:rPr lang="en-US" sz="1350" dirty="0">
                <a:solidFill>
                  <a:srgbClr val="C9C2C0"/>
                </a:solidFill>
                <a:latin typeface="Gelasio" pitchFamily="34" charset="0"/>
                <a:ea typeface="Gelasio" pitchFamily="34" charset="-122"/>
                <a:cs typeface="Gelasio" pitchFamily="34" charset="-120"/>
              </a:rPr>
              <a:t>This project focuses on delivering a robust, secure messaging platform, designed primarily for academic and research exploration into quantum-safe communication methodologies.</a:t>
            </a:r>
            <a:endParaRPr lang="en-US" sz="1350" dirty="0"/>
          </a:p>
        </p:txBody>
      </p:sp>
      <p:sp>
        <p:nvSpPr>
          <p:cNvPr id="11" name="Rectangle: Rounded Corners 10">
            <a:extLst>
              <a:ext uri="{FF2B5EF4-FFF2-40B4-BE49-F238E27FC236}">
                <a16:creationId xmlns:a16="http://schemas.microsoft.com/office/drawing/2014/main" id="{E9230FFC-FEB1-FC4C-15A6-B0D7A08DE7FC}"/>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2C1C2DC-5887-7055-A2B4-C8EDC9BF34BB}"/>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19FD3D5-E466-5998-DB4D-8F2EA3450A31}"/>
              </a:ext>
            </a:extLst>
          </p:cNvPr>
          <p:cNvSpPr txBox="1"/>
          <p:nvPr/>
        </p:nvSpPr>
        <p:spPr>
          <a:xfrm>
            <a:off x="331268" y="177121"/>
            <a:ext cx="10438332" cy="461665"/>
          </a:xfrm>
          <a:prstGeom prst="rect">
            <a:avLst/>
          </a:prstGeom>
          <a:noFill/>
        </p:spPr>
        <p:txBody>
          <a:bodyPr wrap="square">
            <a:spAutoFit/>
          </a:bodyPr>
          <a:lstStyle/>
          <a:p>
            <a:r>
              <a:rPr lang="en-US" sz="2400" dirty="0">
                <a:solidFill>
                  <a:schemeClr val="bg1"/>
                </a:solidFill>
                <a:latin typeface="Gelasio" panose="020B0604020202020204" charset="0"/>
                <a:cs typeface="Gelasio" panose="020B0604020202020204" charset="0"/>
              </a:rPr>
              <a:t>Difference Between Real-Time WhatsApp and </a:t>
            </a:r>
            <a:r>
              <a:rPr lang="en-US" sz="2400" dirty="0" err="1">
                <a:solidFill>
                  <a:schemeClr val="bg1"/>
                </a:solidFill>
                <a:latin typeface="Gelasio" panose="020B0604020202020204" charset="0"/>
                <a:cs typeface="Gelasio" panose="020B0604020202020204" charset="0"/>
              </a:rPr>
              <a:t>QuantumSecure</a:t>
            </a:r>
            <a:r>
              <a:rPr lang="en-US" sz="2400" dirty="0">
                <a:solidFill>
                  <a:schemeClr val="bg1"/>
                </a:solidFill>
                <a:latin typeface="Gelasio" panose="020B0604020202020204" charset="0"/>
                <a:cs typeface="Gelasio" panose="020B0604020202020204" charset="0"/>
              </a:rPr>
              <a:t> Chat System</a:t>
            </a:r>
            <a:endParaRPr lang="en-IN" sz="2400" dirty="0">
              <a:solidFill>
                <a:schemeClr val="bg1"/>
              </a:solidFill>
              <a:latin typeface="Gelasio" panose="020B0604020202020204" charset="0"/>
              <a:cs typeface="Gelasio" panose="020B0604020202020204" charset="0"/>
            </a:endParaRPr>
          </a:p>
        </p:txBody>
      </p:sp>
      <p:graphicFrame>
        <p:nvGraphicFramePr>
          <p:cNvPr id="5" name="Table 4">
            <a:extLst>
              <a:ext uri="{FF2B5EF4-FFF2-40B4-BE49-F238E27FC236}">
                <a16:creationId xmlns:a16="http://schemas.microsoft.com/office/drawing/2014/main" id="{1307F2F4-966B-530C-7A73-80663E80AEFC}"/>
              </a:ext>
            </a:extLst>
          </p:cNvPr>
          <p:cNvGraphicFramePr>
            <a:graphicFrameLocks noGrp="1"/>
          </p:cNvGraphicFramePr>
          <p:nvPr>
            <p:extLst>
              <p:ext uri="{D42A27DB-BD31-4B8C-83A1-F6EECF244321}">
                <p14:modId xmlns:p14="http://schemas.microsoft.com/office/powerpoint/2010/main" val="18683093"/>
              </p:ext>
            </p:extLst>
          </p:nvPr>
        </p:nvGraphicFramePr>
        <p:xfrm>
          <a:off x="712269" y="1192693"/>
          <a:ext cx="12617451" cy="6466254"/>
        </p:xfrm>
        <a:graphic>
          <a:graphicData uri="http://schemas.openxmlformats.org/drawingml/2006/table">
            <a:tbl>
              <a:tblPr/>
              <a:tblGrid>
                <a:gridCol w="4205817">
                  <a:extLst>
                    <a:ext uri="{9D8B030D-6E8A-4147-A177-3AD203B41FA5}">
                      <a16:colId xmlns:a16="http://schemas.microsoft.com/office/drawing/2014/main" val="3706294825"/>
                    </a:ext>
                  </a:extLst>
                </a:gridCol>
                <a:gridCol w="4205817">
                  <a:extLst>
                    <a:ext uri="{9D8B030D-6E8A-4147-A177-3AD203B41FA5}">
                      <a16:colId xmlns:a16="http://schemas.microsoft.com/office/drawing/2014/main" val="3063641962"/>
                    </a:ext>
                  </a:extLst>
                </a:gridCol>
                <a:gridCol w="4205817">
                  <a:extLst>
                    <a:ext uri="{9D8B030D-6E8A-4147-A177-3AD203B41FA5}">
                      <a16:colId xmlns:a16="http://schemas.microsoft.com/office/drawing/2014/main" val="1381925766"/>
                    </a:ext>
                  </a:extLst>
                </a:gridCol>
              </a:tblGrid>
              <a:tr h="669974">
                <a:tc>
                  <a:txBody>
                    <a:bodyPr/>
                    <a:lstStyle/>
                    <a:p>
                      <a:pPr>
                        <a:buNone/>
                      </a:pPr>
                      <a:r>
                        <a:rPr lang="en-IN" b="1" dirty="0">
                          <a:solidFill>
                            <a:schemeClr val="bg1"/>
                          </a:solidFill>
                          <a:latin typeface="Gelasio" panose="020B0604020202020204" charset="0"/>
                          <a:cs typeface="Gelasio" panose="020B0604020202020204" charset="0"/>
                        </a:rPr>
                        <a:t>Feature</a:t>
                      </a:r>
                      <a:endParaRPr lang="en-IN" dirty="0">
                        <a:solidFill>
                          <a:schemeClr val="bg1"/>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IN" b="1" dirty="0">
                          <a:solidFill>
                            <a:schemeClr val="bg1"/>
                          </a:solidFill>
                          <a:latin typeface="Gelasio" panose="020B0604020202020204" charset="0"/>
                          <a:cs typeface="Gelasio" panose="020B0604020202020204" charset="0"/>
                        </a:rPr>
                        <a:t>Real-Time WhatsApp</a:t>
                      </a:r>
                      <a:endParaRPr lang="en-IN" dirty="0">
                        <a:solidFill>
                          <a:schemeClr val="bg1"/>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IN" b="1" dirty="0" err="1">
                          <a:solidFill>
                            <a:schemeClr val="bg1"/>
                          </a:solidFill>
                          <a:latin typeface="Gelasio" panose="020B0604020202020204" charset="0"/>
                          <a:cs typeface="Gelasio" panose="020B0604020202020204" charset="0"/>
                        </a:rPr>
                        <a:t>QuantumSecure</a:t>
                      </a:r>
                      <a:r>
                        <a:rPr lang="en-IN" b="1" dirty="0">
                          <a:solidFill>
                            <a:schemeClr val="bg1"/>
                          </a:solidFill>
                          <a:latin typeface="Gelasio" panose="020B0604020202020204" charset="0"/>
                          <a:cs typeface="Gelasio" panose="020B0604020202020204" charset="0"/>
                        </a:rPr>
                        <a:t> Chat System</a:t>
                      </a:r>
                      <a:endParaRPr lang="en-IN" dirty="0">
                        <a:solidFill>
                          <a:schemeClr val="bg1"/>
                        </a:solidFill>
                        <a:latin typeface="Gelasio" panose="020B0604020202020204" charset="0"/>
                        <a:cs typeface="Gelasio" panose="020B0604020202020204" charset="0"/>
                      </a:endParaRPr>
                    </a:p>
                  </a:txBody>
                  <a:tcPr anchor="ctr">
                    <a:lnL>
                      <a:noFill/>
                    </a:lnL>
                    <a:lnR>
                      <a:noFill/>
                    </a:lnR>
                    <a:lnT>
                      <a:noFill/>
                    </a:lnT>
                    <a:lnB>
                      <a:noFill/>
                    </a:lnB>
                    <a:noFill/>
                  </a:tcPr>
                </a:tc>
                <a:extLst>
                  <a:ext uri="{0D108BD9-81ED-4DB2-BD59-A6C34878D82A}">
                    <a16:rowId xmlns:a16="http://schemas.microsoft.com/office/drawing/2014/main" val="4100132756"/>
                  </a:ext>
                </a:extLst>
              </a:tr>
              <a:tr h="572346">
                <a:tc>
                  <a:txBody>
                    <a:bodyPr/>
                    <a:lstStyle/>
                    <a:p>
                      <a:pPr>
                        <a:buNone/>
                      </a:pPr>
                      <a:r>
                        <a:rPr lang="en-IN" b="1" dirty="0">
                          <a:solidFill>
                            <a:srgbClr val="C9C2C0"/>
                          </a:solidFill>
                          <a:latin typeface="Gelasio" panose="020B0604020202020204" charset="0"/>
                          <a:cs typeface="Gelasio" panose="020B0604020202020204" charset="0"/>
                        </a:rPr>
                        <a:t>Purpose</a:t>
                      </a:r>
                      <a:endParaRPr lang="en-IN" dirty="0">
                        <a:solidFill>
                          <a:srgbClr val="C9C2C0"/>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IN" dirty="0">
                          <a:solidFill>
                            <a:srgbClr val="C9C2C0"/>
                          </a:solidFill>
                          <a:latin typeface="Gelasio" panose="020B0604020202020204" charset="0"/>
                          <a:cs typeface="Gelasio" panose="020B0604020202020204" charset="0"/>
                        </a:rPr>
                        <a:t>Commercial messaging application for daily communication</a:t>
                      </a:r>
                    </a:p>
                  </a:txBody>
                  <a:tcPr anchor="ctr">
                    <a:lnL>
                      <a:noFill/>
                    </a:lnL>
                    <a:lnR>
                      <a:noFill/>
                    </a:lnR>
                    <a:lnT>
                      <a:noFill/>
                    </a:lnT>
                    <a:lnB>
                      <a:noFill/>
                    </a:lnB>
                    <a:noFill/>
                  </a:tcPr>
                </a:tc>
                <a:tc>
                  <a:txBody>
                    <a:bodyPr/>
                    <a:lstStyle/>
                    <a:p>
                      <a:pPr>
                        <a:buNone/>
                      </a:pPr>
                      <a:r>
                        <a:rPr lang="en-US">
                          <a:solidFill>
                            <a:srgbClr val="C9C2C0"/>
                          </a:solidFill>
                          <a:latin typeface="Gelasio" panose="020B0604020202020204" charset="0"/>
                          <a:cs typeface="Gelasio" panose="020B0604020202020204" charset="0"/>
                        </a:rPr>
                        <a:t>Academic and research-oriented secure chat system</a:t>
                      </a:r>
                    </a:p>
                  </a:txBody>
                  <a:tcPr anchor="ctr">
                    <a:lnL>
                      <a:noFill/>
                    </a:lnL>
                    <a:lnR>
                      <a:noFill/>
                    </a:lnR>
                    <a:lnT>
                      <a:noFill/>
                    </a:lnT>
                    <a:lnB>
                      <a:noFill/>
                    </a:lnB>
                    <a:noFill/>
                  </a:tcPr>
                </a:tc>
                <a:extLst>
                  <a:ext uri="{0D108BD9-81ED-4DB2-BD59-A6C34878D82A}">
                    <a16:rowId xmlns:a16="http://schemas.microsoft.com/office/drawing/2014/main" val="2895040665"/>
                  </a:ext>
                </a:extLst>
              </a:tr>
              <a:tr h="711200">
                <a:tc>
                  <a:txBody>
                    <a:bodyPr/>
                    <a:lstStyle/>
                    <a:p>
                      <a:pPr>
                        <a:buNone/>
                      </a:pPr>
                      <a:r>
                        <a:rPr lang="en-IN" b="1">
                          <a:solidFill>
                            <a:srgbClr val="C9C2C0"/>
                          </a:solidFill>
                          <a:latin typeface="Gelasio" panose="020B0604020202020204" charset="0"/>
                          <a:cs typeface="Gelasio" panose="020B0604020202020204" charset="0"/>
                        </a:rPr>
                        <a:t>Encryption Type</a:t>
                      </a:r>
                      <a:endParaRPr lang="en-IN">
                        <a:solidFill>
                          <a:srgbClr val="C9C2C0"/>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US" dirty="0">
                          <a:solidFill>
                            <a:srgbClr val="C9C2C0"/>
                          </a:solidFill>
                          <a:latin typeface="Gelasio" panose="020B0604020202020204" charset="0"/>
                          <a:cs typeface="Gelasio" panose="020B0604020202020204" charset="0"/>
                        </a:rPr>
                        <a:t>Classical end-to-end encryption (Signal Protocol)</a:t>
                      </a:r>
                    </a:p>
                  </a:txBody>
                  <a:tcPr anchor="ctr">
                    <a:lnL>
                      <a:noFill/>
                    </a:lnL>
                    <a:lnR>
                      <a:noFill/>
                    </a:lnR>
                    <a:lnT>
                      <a:noFill/>
                    </a:lnT>
                    <a:lnB>
                      <a:noFill/>
                    </a:lnB>
                    <a:noFill/>
                  </a:tcPr>
                </a:tc>
                <a:tc>
                  <a:txBody>
                    <a:bodyPr/>
                    <a:lstStyle/>
                    <a:p>
                      <a:pPr>
                        <a:buNone/>
                      </a:pPr>
                      <a:r>
                        <a:rPr lang="en-US">
                          <a:solidFill>
                            <a:srgbClr val="C9C2C0"/>
                          </a:solidFill>
                          <a:latin typeface="Gelasio" panose="020B0604020202020204" charset="0"/>
                          <a:cs typeface="Gelasio" panose="020B0604020202020204" charset="0"/>
                        </a:rPr>
                        <a:t>Quantum-based security using BB84 + AES</a:t>
                      </a:r>
                    </a:p>
                  </a:txBody>
                  <a:tcPr anchor="ctr">
                    <a:lnL>
                      <a:noFill/>
                    </a:lnL>
                    <a:lnR>
                      <a:noFill/>
                    </a:lnR>
                    <a:lnT>
                      <a:noFill/>
                    </a:lnT>
                    <a:lnB>
                      <a:noFill/>
                    </a:lnB>
                    <a:noFill/>
                  </a:tcPr>
                </a:tc>
                <a:extLst>
                  <a:ext uri="{0D108BD9-81ED-4DB2-BD59-A6C34878D82A}">
                    <a16:rowId xmlns:a16="http://schemas.microsoft.com/office/drawing/2014/main" val="2754778087"/>
                  </a:ext>
                </a:extLst>
              </a:tr>
              <a:tr h="782320">
                <a:tc>
                  <a:txBody>
                    <a:bodyPr/>
                    <a:lstStyle/>
                    <a:p>
                      <a:pPr>
                        <a:buNone/>
                      </a:pPr>
                      <a:r>
                        <a:rPr lang="en-IN" b="1" dirty="0">
                          <a:solidFill>
                            <a:srgbClr val="C9C2C0"/>
                          </a:solidFill>
                          <a:latin typeface="Gelasio" panose="020B0604020202020204" charset="0"/>
                          <a:cs typeface="Gelasio" panose="020B0604020202020204" charset="0"/>
                        </a:rPr>
                        <a:t>Key Exchange</a:t>
                      </a:r>
                      <a:endParaRPr lang="en-IN" dirty="0">
                        <a:solidFill>
                          <a:srgbClr val="C9C2C0"/>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IN" dirty="0">
                          <a:solidFill>
                            <a:srgbClr val="C9C2C0"/>
                          </a:solidFill>
                          <a:latin typeface="Gelasio" panose="020B0604020202020204" charset="0"/>
                          <a:cs typeface="Gelasio" panose="020B0604020202020204" charset="0"/>
                        </a:rPr>
                        <a:t>Classical key exchange methods</a:t>
                      </a:r>
                    </a:p>
                  </a:txBody>
                  <a:tcPr anchor="ctr">
                    <a:lnL>
                      <a:noFill/>
                    </a:lnL>
                    <a:lnR>
                      <a:noFill/>
                    </a:lnR>
                    <a:lnT>
                      <a:noFill/>
                    </a:lnT>
                    <a:lnB>
                      <a:noFill/>
                    </a:lnB>
                    <a:noFill/>
                  </a:tcPr>
                </a:tc>
                <a:tc>
                  <a:txBody>
                    <a:bodyPr/>
                    <a:lstStyle/>
                    <a:p>
                      <a:pPr>
                        <a:buNone/>
                      </a:pPr>
                      <a:r>
                        <a:rPr lang="en-IN">
                          <a:solidFill>
                            <a:srgbClr val="C9C2C0"/>
                          </a:solidFill>
                          <a:latin typeface="Gelasio" panose="020B0604020202020204" charset="0"/>
                          <a:cs typeface="Gelasio" panose="020B0604020202020204" charset="0"/>
                        </a:rPr>
                        <a:t>Quantum Key Distribution (BB84)</a:t>
                      </a:r>
                    </a:p>
                  </a:txBody>
                  <a:tcPr anchor="ctr">
                    <a:lnL>
                      <a:noFill/>
                    </a:lnL>
                    <a:lnR>
                      <a:noFill/>
                    </a:lnR>
                    <a:lnT>
                      <a:noFill/>
                    </a:lnT>
                    <a:lnB>
                      <a:noFill/>
                    </a:lnB>
                    <a:noFill/>
                  </a:tcPr>
                </a:tc>
                <a:extLst>
                  <a:ext uri="{0D108BD9-81ED-4DB2-BD59-A6C34878D82A}">
                    <a16:rowId xmlns:a16="http://schemas.microsoft.com/office/drawing/2014/main" val="306740572"/>
                  </a:ext>
                </a:extLst>
              </a:tr>
              <a:tr h="558800">
                <a:tc>
                  <a:txBody>
                    <a:bodyPr/>
                    <a:lstStyle/>
                    <a:p>
                      <a:pPr>
                        <a:buNone/>
                      </a:pPr>
                      <a:r>
                        <a:rPr lang="en-IN" b="1">
                          <a:solidFill>
                            <a:srgbClr val="C9C2C0"/>
                          </a:solidFill>
                          <a:latin typeface="Gelasio" panose="020B0604020202020204" charset="0"/>
                          <a:cs typeface="Gelasio" panose="020B0604020202020204" charset="0"/>
                        </a:rPr>
                        <a:t>Quantum Safety</a:t>
                      </a:r>
                      <a:endParaRPr lang="en-IN">
                        <a:solidFill>
                          <a:srgbClr val="C9C2C0"/>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IN">
                          <a:solidFill>
                            <a:srgbClr val="C9C2C0"/>
                          </a:solidFill>
                          <a:latin typeface="Gelasio" panose="020B0604020202020204" charset="0"/>
                          <a:cs typeface="Gelasio" panose="020B0604020202020204" charset="0"/>
                        </a:rPr>
                        <a:t>Not fully quantum-safe</a:t>
                      </a:r>
                    </a:p>
                  </a:txBody>
                  <a:tcPr anchor="ctr">
                    <a:lnL>
                      <a:noFill/>
                    </a:lnL>
                    <a:lnR>
                      <a:noFill/>
                    </a:lnR>
                    <a:lnT>
                      <a:noFill/>
                    </a:lnT>
                    <a:lnB>
                      <a:noFill/>
                    </a:lnB>
                    <a:noFill/>
                  </a:tcPr>
                </a:tc>
                <a:tc>
                  <a:txBody>
                    <a:bodyPr/>
                    <a:lstStyle/>
                    <a:p>
                      <a:pPr>
                        <a:buNone/>
                      </a:pPr>
                      <a:r>
                        <a:rPr lang="en-IN">
                          <a:solidFill>
                            <a:srgbClr val="C9C2C0"/>
                          </a:solidFill>
                          <a:latin typeface="Gelasio" panose="020B0604020202020204" charset="0"/>
                          <a:cs typeface="Gelasio" panose="020B0604020202020204" charset="0"/>
                        </a:rPr>
                        <a:t>Designed to be quantum-safe</a:t>
                      </a:r>
                    </a:p>
                  </a:txBody>
                  <a:tcPr anchor="ctr">
                    <a:lnL>
                      <a:noFill/>
                    </a:lnL>
                    <a:lnR>
                      <a:noFill/>
                    </a:lnR>
                    <a:lnT>
                      <a:noFill/>
                    </a:lnT>
                    <a:lnB>
                      <a:noFill/>
                    </a:lnB>
                    <a:noFill/>
                  </a:tcPr>
                </a:tc>
                <a:extLst>
                  <a:ext uri="{0D108BD9-81ED-4DB2-BD59-A6C34878D82A}">
                    <a16:rowId xmlns:a16="http://schemas.microsoft.com/office/drawing/2014/main" val="1836033285"/>
                  </a:ext>
                </a:extLst>
              </a:tr>
              <a:tr h="365760">
                <a:tc>
                  <a:txBody>
                    <a:bodyPr/>
                    <a:lstStyle/>
                    <a:p>
                      <a:pPr>
                        <a:buNone/>
                      </a:pPr>
                      <a:r>
                        <a:rPr lang="en-IN" b="1">
                          <a:solidFill>
                            <a:srgbClr val="C9C2C0"/>
                          </a:solidFill>
                          <a:latin typeface="Gelasio" panose="020B0604020202020204" charset="0"/>
                          <a:cs typeface="Gelasio" panose="020B0604020202020204" charset="0"/>
                        </a:rPr>
                        <a:t>Vulnerability to Shor’s Algorithm</a:t>
                      </a:r>
                      <a:endParaRPr lang="en-IN">
                        <a:solidFill>
                          <a:srgbClr val="C9C2C0"/>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IN" dirty="0">
                          <a:solidFill>
                            <a:srgbClr val="C9C2C0"/>
                          </a:solidFill>
                          <a:latin typeface="Gelasio" panose="020B0604020202020204" charset="0"/>
                          <a:cs typeface="Gelasio" panose="020B0604020202020204" charset="0"/>
                        </a:rPr>
                        <a:t>Potentially vulnerable in future</a:t>
                      </a:r>
                    </a:p>
                  </a:txBody>
                  <a:tcPr anchor="ctr">
                    <a:lnL>
                      <a:noFill/>
                    </a:lnL>
                    <a:lnR>
                      <a:noFill/>
                    </a:lnR>
                    <a:lnT>
                      <a:noFill/>
                    </a:lnT>
                    <a:lnB>
                      <a:noFill/>
                    </a:lnB>
                    <a:noFill/>
                  </a:tcPr>
                </a:tc>
                <a:tc>
                  <a:txBody>
                    <a:bodyPr/>
                    <a:lstStyle/>
                    <a:p>
                      <a:pPr>
                        <a:buNone/>
                      </a:pPr>
                      <a:r>
                        <a:rPr lang="en-IN">
                          <a:solidFill>
                            <a:srgbClr val="C9C2C0"/>
                          </a:solidFill>
                          <a:latin typeface="Gelasio" panose="020B0604020202020204" charset="0"/>
                          <a:cs typeface="Gelasio" panose="020B0604020202020204" charset="0"/>
                        </a:rPr>
                        <a:t>Resistant due to quantum key distribution</a:t>
                      </a:r>
                    </a:p>
                  </a:txBody>
                  <a:tcPr anchor="ctr">
                    <a:lnL>
                      <a:noFill/>
                    </a:lnL>
                    <a:lnR>
                      <a:noFill/>
                    </a:lnR>
                    <a:lnT>
                      <a:noFill/>
                    </a:lnT>
                    <a:lnB>
                      <a:noFill/>
                    </a:lnB>
                    <a:noFill/>
                  </a:tcPr>
                </a:tc>
                <a:extLst>
                  <a:ext uri="{0D108BD9-81ED-4DB2-BD59-A6C34878D82A}">
                    <a16:rowId xmlns:a16="http://schemas.microsoft.com/office/drawing/2014/main" val="3420683606"/>
                  </a:ext>
                </a:extLst>
              </a:tr>
              <a:tr h="629920">
                <a:tc>
                  <a:txBody>
                    <a:bodyPr/>
                    <a:lstStyle/>
                    <a:p>
                      <a:pPr>
                        <a:buNone/>
                      </a:pPr>
                      <a:r>
                        <a:rPr lang="en-IN" b="1">
                          <a:solidFill>
                            <a:srgbClr val="C9C2C0"/>
                          </a:solidFill>
                          <a:latin typeface="Gelasio" panose="020B0604020202020204" charset="0"/>
                          <a:cs typeface="Gelasio" panose="020B0604020202020204" charset="0"/>
                        </a:rPr>
                        <a:t>Shor’s Algorithm Usage</a:t>
                      </a:r>
                      <a:endParaRPr lang="en-IN">
                        <a:solidFill>
                          <a:srgbClr val="C9C2C0"/>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IN" dirty="0">
                          <a:solidFill>
                            <a:srgbClr val="C9C2C0"/>
                          </a:solidFill>
                          <a:latin typeface="Gelasio" panose="020B0604020202020204" charset="0"/>
                          <a:cs typeface="Gelasio" panose="020B0604020202020204" charset="0"/>
                        </a:rPr>
                        <a:t>Not used</a:t>
                      </a:r>
                    </a:p>
                  </a:txBody>
                  <a:tcPr anchor="ctr">
                    <a:lnL>
                      <a:noFill/>
                    </a:lnL>
                    <a:lnR>
                      <a:noFill/>
                    </a:lnR>
                    <a:lnT>
                      <a:noFill/>
                    </a:lnT>
                    <a:lnB>
                      <a:noFill/>
                    </a:lnB>
                    <a:noFill/>
                  </a:tcPr>
                </a:tc>
                <a:tc>
                  <a:txBody>
                    <a:bodyPr/>
                    <a:lstStyle/>
                    <a:p>
                      <a:pPr>
                        <a:buNone/>
                      </a:pPr>
                      <a:r>
                        <a:rPr lang="en-US">
                          <a:solidFill>
                            <a:srgbClr val="C9C2C0"/>
                          </a:solidFill>
                          <a:latin typeface="Gelasio" panose="020B0604020202020204" charset="0"/>
                          <a:cs typeface="Gelasio" panose="020B0604020202020204" charset="0"/>
                        </a:rPr>
                        <a:t>Included as a demonstration module</a:t>
                      </a:r>
                    </a:p>
                  </a:txBody>
                  <a:tcPr anchor="ctr">
                    <a:lnL>
                      <a:noFill/>
                    </a:lnL>
                    <a:lnR>
                      <a:noFill/>
                    </a:lnR>
                    <a:lnT>
                      <a:noFill/>
                    </a:lnT>
                    <a:lnB>
                      <a:noFill/>
                    </a:lnB>
                    <a:noFill/>
                  </a:tcPr>
                </a:tc>
                <a:extLst>
                  <a:ext uri="{0D108BD9-81ED-4DB2-BD59-A6C34878D82A}">
                    <a16:rowId xmlns:a16="http://schemas.microsoft.com/office/drawing/2014/main" val="3663091694"/>
                  </a:ext>
                </a:extLst>
              </a:tr>
              <a:tr h="365760">
                <a:tc>
                  <a:txBody>
                    <a:bodyPr/>
                    <a:lstStyle/>
                    <a:p>
                      <a:pPr>
                        <a:buNone/>
                      </a:pPr>
                      <a:r>
                        <a:rPr lang="en-IN" b="1">
                          <a:solidFill>
                            <a:srgbClr val="C9C2C0"/>
                          </a:solidFill>
                          <a:latin typeface="Gelasio" panose="020B0604020202020204" charset="0"/>
                          <a:cs typeface="Gelasio" panose="020B0604020202020204" charset="0"/>
                        </a:rPr>
                        <a:t>Message Visibility on Server</a:t>
                      </a:r>
                      <a:endParaRPr lang="en-IN">
                        <a:solidFill>
                          <a:srgbClr val="C9C2C0"/>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US" dirty="0">
                          <a:solidFill>
                            <a:srgbClr val="C9C2C0"/>
                          </a:solidFill>
                          <a:latin typeface="Gelasio" panose="020B0604020202020204" charset="0"/>
                          <a:cs typeface="Gelasio" panose="020B0604020202020204" charset="0"/>
                        </a:rPr>
                        <a:t>Messages are encrypted and not readable</a:t>
                      </a:r>
                    </a:p>
                  </a:txBody>
                  <a:tcPr anchor="ctr">
                    <a:lnL>
                      <a:noFill/>
                    </a:lnL>
                    <a:lnR>
                      <a:noFill/>
                    </a:lnR>
                    <a:lnT>
                      <a:noFill/>
                    </a:lnT>
                    <a:lnB>
                      <a:noFill/>
                    </a:lnB>
                    <a:noFill/>
                  </a:tcPr>
                </a:tc>
                <a:tc>
                  <a:txBody>
                    <a:bodyPr/>
                    <a:lstStyle/>
                    <a:p>
                      <a:pPr>
                        <a:buNone/>
                      </a:pPr>
                      <a:r>
                        <a:rPr lang="fr-FR">
                          <a:solidFill>
                            <a:srgbClr val="C9C2C0"/>
                          </a:solidFill>
                          <a:latin typeface="Gelasio" panose="020B0604020202020204" charset="0"/>
                          <a:cs typeface="Gelasio" panose="020B0604020202020204" charset="0"/>
                        </a:rPr>
                        <a:t>Encrypted mode: secure, Normal mode: visible for comparison</a:t>
                      </a:r>
                    </a:p>
                  </a:txBody>
                  <a:tcPr anchor="ctr">
                    <a:lnL>
                      <a:noFill/>
                    </a:lnL>
                    <a:lnR>
                      <a:noFill/>
                    </a:lnR>
                    <a:lnT>
                      <a:noFill/>
                    </a:lnT>
                    <a:lnB>
                      <a:noFill/>
                    </a:lnB>
                    <a:noFill/>
                  </a:tcPr>
                </a:tc>
                <a:extLst>
                  <a:ext uri="{0D108BD9-81ED-4DB2-BD59-A6C34878D82A}">
                    <a16:rowId xmlns:a16="http://schemas.microsoft.com/office/drawing/2014/main" val="798052599"/>
                  </a:ext>
                </a:extLst>
              </a:tr>
              <a:tr h="553720">
                <a:tc>
                  <a:txBody>
                    <a:bodyPr/>
                    <a:lstStyle/>
                    <a:p>
                      <a:pPr>
                        <a:buNone/>
                      </a:pPr>
                      <a:r>
                        <a:rPr lang="en-IN" b="1" dirty="0">
                          <a:solidFill>
                            <a:srgbClr val="C9C2C0"/>
                          </a:solidFill>
                          <a:latin typeface="Gelasio" panose="020B0604020202020204" charset="0"/>
                          <a:cs typeface="Gelasio" panose="020B0604020202020204" charset="0"/>
                        </a:rPr>
                        <a:t>Target Users</a:t>
                      </a:r>
                      <a:endParaRPr lang="en-IN" dirty="0">
                        <a:solidFill>
                          <a:srgbClr val="C9C2C0"/>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IN" dirty="0">
                          <a:solidFill>
                            <a:srgbClr val="C9C2C0"/>
                          </a:solidFill>
                          <a:latin typeface="Gelasio" panose="020B0604020202020204" charset="0"/>
                          <a:cs typeface="Gelasio" panose="020B0604020202020204" charset="0"/>
                        </a:rPr>
                        <a:t>General public</a:t>
                      </a:r>
                    </a:p>
                  </a:txBody>
                  <a:tcPr anchor="ctr">
                    <a:lnL>
                      <a:noFill/>
                    </a:lnL>
                    <a:lnR>
                      <a:noFill/>
                    </a:lnR>
                    <a:lnT>
                      <a:noFill/>
                    </a:lnT>
                    <a:lnB>
                      <a:noFill/>
                    </a:lnB>
                    <a:noFill/>
                  </a:tcPr>
                </a:tc>
                <a:tc>
                  <a:txBody>
                    <a:bodyPr/>
                    <a:lstStyle/>
                    <a:p>
                      <a:pPr>
                        <a:buNone/>
                      </a:pPr>
                      <a:r>
                        <a:rPr lang="en-IN" dirty="0">
                          <a:solidFill>
                            <a:srgbClr val="C9C2C0"/>
                          </a:solidFill>
                          <a:latin typeface="Gelasio" panose="020B0604020202020204" charset="0"/>
                          <a:cs typeface="Gelasio" panose="020B0604020202020204" charset="0"/>
                        </a:rPr>
                        <a:t>Students, researchers, faculty</a:t>
                      </a:r>
                    </a:p>
                  </a:txBody>
                  <a:tcPr anchor="ctr">
                    <a:lnL>
                      <a:noFill/>
                    </a:lnL>
                    <a:lnR>
                      <a:noFill/>
                    </a:lnR>
                    <a:lnT>
                      <a:noFill/>
                    </a:lnT>
                    <a:lnB>
                      <a:noFill/>
                    </a:lnB>
                    <a:noFill/>
                  </a:tcPr>
                </a:tc>
                <a:extLst>
                  <a:ext uri="{0D108BD9-81ED-4DB2-BD59-A6C34878D82A}">
                    <a16:rowId xmlns:a16="http://schemas.microsoft.com/office/drawing/2014/main" val="174041982"/>
                  </a:ext>
                </a:extLst>
              </a:tr>
              <a:tr h="640080">
                <a:tc>
                  <a:txBody>
                    <a:bodyPr/>
                    <a:lstStyle/>
                    <a:p>
                      <a:pPr>
                        <a:buNone/>
                      </a:pPr>
                      <a:r>
                        <a:rPr lang="en-IN" b="1" dirty="0">
                          <a:solidFill>
                            <a:srgbClr val="C9C2C0"/>
                          </a:solidFill>
                          <a:latin typeface="Gelasio" panose="020B0604020202020204" charset="0"/>
                          <a:cs typeface="Gelasio" panose="020B0604020202020204" charset="0"/>
                        </a:rPr>
                        <a:t>Deployment</a:t>
                      </a:r>
                      <a:endParaRPr lang="en-IN" dirty="0">
                        <a:solidFill>
                          <a:srgbClr val="C9C2C0"/>
                        </a:solidFill>
                        <a:latin typeface="Gelasio" panose="020B0604020202020204" charset="0"/>
                        <a:cs typeface="Gelasio" panose="020B0604020202020204" charset="0"/>
                      </a:endParaRPr>
                    </a:p>
                  </a:txBody>
                  <a:tcPr anchor="ctr">
                    <a:lnL>
                      <a:noFill/>
                    </a:lnL>
                    <a:lnR>
                      <a:noFill/>
                    </a:lnR>
                    <a:lnT>
                      <a:noFill/>
                    </a:lnT>
                    <a:lnB>
                      <a:noFill/>
                    </a:lnB>
                    <a:noFill/>
                  </a:tcPr>
                </a:tc>
                <a:tc>
                  <a:txBody>
                    <a:bodyPr/>
                    <a:lstStyle/>
                    <a:p>
                      <a:pPr>
                        <a:buNone/>
                      </a:pPr>
                      <a:r>
                        <a:rPr lang="en-IN" dirty="0">
                          <a:solidFill>
                            <a:srgbClr val="C9C2C0"/>
                          </a:solidFill>
                          <a:latin typeface="Gelasio" panose="020B0604020202020204" charset="0"/>
                          <a:cs typeface="Gelasio" panose="020B0604020202020204" charset="0"/>
                        </a:rPr>
                        <a:t>Large-scale global servers</a:t>
                      </a:r>
                    </a:p>
                  </a:txBody>
                  <a:tcPr anchor="ctr">
                    <a:lnL>
                      <a:noFill/>
                    </a:lnL>
                    <a:lnR>
                      <a:noFill/>
                    </a:lnR>
                    <a:lnT>
                      <a:noFill/>
                    </a:lnT>
                    <a:lnB>
                      <a:noFill/>
                    </a:lnB>
                    <a:noFill/>
                  </a:tcPr>
                </a:tc>
                <a:tc>
                  <a:txBody>
                    <a:bodyPr/>
                    <a:lstStyle/>
                    <a:p>
                      <a:pPr>
                        <a:buNone/>
                      </a:pPr>
                      <a:r>
                        <a:rPr lang="en-US" dirty="0">
                          <a:solidFill>
                            <a:srgbClr val="C9C2C0"/>
                          </a:solidFill>
                          <a:latin typeface="Gelasio" panose="020B0604020202020204" charset="0"/>
                          <a:cs typeface="Gelasio" panose="020B0604020202020204" charset="0"/>
                        </a:rPr>
                        <a:t>Local / cloud deployment using Docker</a:t>
                      </a:r>
                    </a:p>
                  </a:txBody>
                  <a:tcPr anchor="ctr">
                    <a:lnL>
                      <a:noFill/>
                    </a:lnL>
                    <a:lnR>
                      <a:noFill/>
                    </a:lnR>
                    <a:lnT>
                      <a:noFill/>
                    </a:lnT>
                    <a:lnB>
                      <a:noFill/>
                    </a:lnB>
                    <a:noFill/>
                  </a:tcPr>
                </a:tc>
                <a:extLst>
                  <a:ext uri="{0D108BD9-81ED-4DB2-BD59-A6C34878D82A}">
                    <a16:rowId xmlns:a16="http://schemas.microsoft.com/office/drawing/2014/main" val="1263881094"/>
                  </a:ext>
                </a:extLst>
              </a:tr>
            </a:tbl>
          </a:graphicData>
        </a:graphic>
      </p:graphicFrame>
    </p:spTree>
    <p:extLst>
      <p:ext uri="{BB962C8B-B14F-4D97-AF65-F5344CB8AC3E}">
        <p14:creationId xmlns:p14="http://schemas.microsoft.com/office/powerpoint/2010/main" val="874052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686401" y="489347"/>
            <a:ext cx="5928241" cy="556141"/>
          </a:xfrm>
          <a:prstGeom prst="rect">
            <a:avLst/>
          </a:prstGeom>
          <a:noFill/>
          <a:ln/>
        </p:spPr>
        <p:txBody>
          <a:bodyPr wrap="none" lIns="0" tIns="0" rIns="0" bIns="0" rtlCol="0" anchor="t"/>
          <a:lstStyle/>
          <a:p>
            <a:pPr marL="0" indent="0" algn="l">
              <a:lnSpc>
                <a:spcPts val="4350"/>
              </a:lnSpc>
              <a:buNone/>
            </a:pPr>
            <a:r>
              <a:rPr lang="en-US" sz="3500" dirty="0">
                <a:solidFill>
                  <a:srgbClr val="D8B6A4"/>
                </a:solidFill>
                <a:latin typeface="Gelasio" pitchFamily="34" charset="0"/>
                <a:ea typeface="Gelasio" pitchFamily="34" charset="-122"/>
                <a:cs typeface="Gelasio" pitchFamily="34" charset="-120"/>
              </a:rPr>
              <a:t>System Architecture Overview</a:t>
            </a:r>
            <a:endParaRPr lang="en-US" sz="3500" dirty="0"/>
          </a:p>
        </p:txBody>
      </p:sp>
      <p:pic>
        <p:nvPicPr>
          <p:cNvPr id="3" name="Image 0" descr="preencoded.png"/>
          <p:cNvPicPr>
            <a:picLocks noChangeAspect="1"/>
          </p:cNvPicPr>
          <p:nvPr/>
        </p:nvPicPr>
        <p:blipFill>
          <a:blip r:embed="rId3"/>
          <a:stretch>
            <a:fillRect/>
          </a:stretch>
        </p:blipFill>
        <p:spPr>
          <a:xfrm>
            <a:off x="1686401" y="1401366"/>
            <a:ext cx="11257598" cy="5286613"/>
          </a:xfrm>
          <a:prstGeom prst="rect">
            <a:avLst/>
          </a:prstGeom>
        </p:spPr>
      </p:pic>
      <p:sp>
        <p:nvSpPr>
          <p:cNvPr id="4" name="Text 1"/>
          <p:cNvSpPr/>
          <p:nvPr/>
        </p:nvSpPr>
        <p:spPr>
          <a:xfrm>
            <a:off x="2512310" y="5359296"/>
            <a:ext cx="2470079" cy="308760"/>
          </a:xfrm>
          <a:prstGeom prst="rect">
            <a:avLst/>
          </a:prstGeom>
          <a:noFill/>
          <a:ln/>
        </p:spPr>
        <p:txBody>
          <a:bodyPr wrap="none" lIns="0" tIns="0" rIns="0" bIns="0" rtlCol="0" anchor="t"/>
          <a:lstStyle/>
          <a:p>
            <a:pPr marL="0" indent="0" algn="r">
              <a:lnSpc>
                <a:spcPts val="1650"/>
              </a:lnSpc>
              <a:buNone/>
            </a:pPr>
            <a:r>
              <a:rPr lang="en-US" sz="1350" dirty="0">
                <a:solidFill>
                  <a:srgbClr val="D8B6A4"/>
                </a:solidFill>
                <a:latin typeface="Gelasio" pitchFamily="34" charset="0"/>
                <a:ea typeface="Gelasio" pitchFamily="34" charset="-122"/>
                <a:cs typeface="Gelasio" pitchFamily="34" charset="-120"/>
              </a:rPr>
              <a:t>Frontend Chat</a:t>
            </a:r>
            <a:endParaRPr lang="en-US" sz="1350" dirty="0"/>
          </a:p>
        </p:txBody>
      </p:sp>
      <p:sp>
        <p:nvSpPr>
          <p:cNvPr id="5" name="Text 2"/>
          <p:cNvSpPr/>
          <p:nvPr/>
        </p:nvSpPr>
        <p:spPr>
          <a:xfrm>
            <a:off x="1952426" y="5755881"/>
            <a:ext cx="3029964" cy="247008"/>
          </a:xfrm>
          <a:prstGeom prst="rect">
            <a:avLst/>
          </a:prstGeom>
          <a:noFill/>
          <a:ln/>
        </p:spPr>
        <p:txBody>
          <a:bodyPr wrap="none" lIns="0" tIns="0" rIns="0" bIns="0" rtlCol="0" anchor="t"/>
          <a:lstStyle/>
          <a:p>
            <a:pPr marL="0" indent="0" algn="r">
              <a:lnSpc>
                <a:spcPts val="1350"/>
              </a:lnSpc>
              <a:buNone/>
            </a:pPr>
            <a:r>
              <a:rPr lang="en-US" sz="1050" dirty="0">
                <a:solidFill>
                  <a:srgbClr val="C9C2C0"/>
                </a:solidFill>
                <a:latin typeface="Gelasio" pitchFamily="34" charset="0"/>
                <a:ea typeface="Gelasio" pitchFamily="34" charset="-122"/>
                <a:cs typeface="Gelasio" pitchFamily="34" charset="-120"/>
              </a:rPr>
              <a:t>User interface for messaging</a:t>
            </a:r>
            <a:endParaRPr lang="en-US" sz="1050" dirty="0"/>
          </a:p>
        </p:txBody>
      </p:sp>
      <p:sp>
        <p:nvSpPr>
          <p:cNvPr id="6" name="Text 3"/>
          <p:cNvSpPr/>
          <p:nvPr/>
        </p:nvSpPr>
        <p:spPr>
          <a:xfrm>
            <a:off x="9724771" y="4497512"/>
            <a:ext cx="2470079" cy="308760"/>
          </a:xfrm>
          <a:prstGeom prst="rect">
            <a:avLst/>
          </a:prstGeom>
          <a:noFill/>
          <a:ln/>
        </p:spPr>
        <p:txBody>
          <a:bodyPr wrap="none" lIns="0" tIns="0" rIns="0" bIns="0" rtlCol="0" anchor="t"/>
          <a:lstStyle/>
          <a:p>
            <a:pPr marL="0" indent="0" algn="l">
              <a:lnSpc>
                <a:spcPts val="1650"/>
              </a:lnSpc>
              <a:buNone/>
            </a:pPr>
            <a:r>
              <a:rPr lang="en-US" sz="1350" dirty="0">
                <a:solidFill>
                  <a:srgbClr val="D8B6A4"/>
                </a:solidFill>
                <a:latin typeface="Gelasio" pitchFamily="34" charset="0"/>
                <a:ea typeface="Gelasio" pitchFamily="34" charset="-122"/>
                <a:cs typeface="Gelasio" pitchFamily="34" charset="-120"/>
              </a:rPr>
              <a:t>Backend Server</a:t>
            </a:r>
            <a:endParaRPr lang="en-US" sz="1350" dirty="0"/>
          </a:p>
        </p:txBody>
      </p:sp>
      <p:sp>
        <p:nvSpPr>
          <p:cNvPr id="7" name="Text 4"/>
          <p:cNvSpPr/>
          <p:nvPr/>
        </p:nvSpPr>
        <p:spPr>
          <a:xfrm>
            <a:off x="9724771" y="4894098"/>
            <a:ext cx="2953116" cy="247008"/>
          </a:xfrm>
          <a:prstGeom prst="rect">
            <a:avLst/>
          </a:prstGeom>
          <a:noFill/>
          <a:ln/>
        </p:spPr>
        <p:txBody>
          <a:bodyPr wrap="none" lIns="0" tIns="0" rIns="0" bIns="0" rtlCol="0" anchor="t"/>
          <a:lstStyle/>
          <a:p>
            <a:pPr marL="0" indent="0" algn="l">
              <a:lnSpc>
                <a:spcPts val="1350"/>
              </a:lnSpc>
              <a:buNone/>
            </a:pPr>
            <a:r>
              <a:rPr lang="en-US" sz="1050" dirty="0">
                <a:solidFill>
                  <a:srgbClr val="C9C2C0"/>
                </a:solidFill>
                <a:latin typeface="Gelasio" pitchFamily="34" charset="0"/>
                <a:ea typeface="Gelasio" pitchFamily="34" charset="-122"/>
                <a:cs typeface="Gelasio" pitchFamily="34" charset="-120"/>
              </a:rPr>
              <a:t>Orchestrates message flow</a:t>
            </a:r>
            <a:endParaRPr lang="en-US" sz="1050" dirty="0"/>
          </a:p>
        </p:txBody>
      </p:sp>
      <p:sp>
        <p:nvSpPr>
          <p:cNvPr id="8" name="Text 5"/>
          <p:cNvSpPr/>
          <p:nvPr/>
        </p:nvSpPr>
        <p:spPr>
          <a:xfrm>
            <a:off x="2512139" y="3712576"/>
            <a:ext cx="2470079" cy="308760"/>
          </a:xfrm>
          <a:prstGeom prst="rect">
            <a:avLst/>
          </a:prstGeom>
          <a:noFill/>
          <a:ln/>
        </p:spPr>
        <p:txBody>
          <a:bodyPr wrap="none" lIns="0" tIns="0" rIns="0" bIns="0" rtlCol="0" anchor="t"/>
          <a:lstStyle/>
          <a:p>
            <a:pPr marL="0" indent="0" algn="r">
              <a:lnSpc>
                <a:spcPts val="1650"/>
              </a:lnSpc>
              <a:buNone/>
            </a:pPr>
            <a:r>
              <a:rPr lang="en-US" sz="1350" dirty="0">
                <a:solidFill>
                  <a:srgbClr val="D8B6A4"/>
                </a:solidFill>
                <a:latin typeface="Gelasio" pitchFamily="34" charset="0"/>
                <a:ea typeface="Gelasio" pitchFamily="34" charset="-122"/>
                <a:cs typeface="Gelasio" pitchFamily="34" charset="-120"/>
              </a:rPr>
              <a:t>BB84 QKD Module</a:t>
            </a:r>
            <a:endParaRPr lang="en-US" sz="1350" dirty="0"/>
          </a:p>
        </p:txBody>
      </p:sp>
      <p:sp>
        <p:nvSpPr>
          <p:cNvPr id="9" name="Text 6"/>
          <p:cNvSpPr/>
          <p:nvPr/>
        </p:nvSpPr>
        <p:spPr>
          <a:xfrm>
            <a:off x="1952254" y="4109161"/>
            <a:ext cx="3029964" cy="247008"/>
          </a:xfrm>
          <a:prstGeom prst="rect">
            <a:avLst/>
          </a:prstGeom>
          <a:noFill/>
          <a:ln/>
        </p:spPr>
        <p:txBody>
          <a:bodyPr wrap="none" lIns="0" tIns="0" rIns="0" bIns="0" rtlCol="0" anchor="t"/>
          <a:lstStyle/>
          <a:p>
            <a:pPr marL="0" indent="0" algn="r">
              <a:lnSpc>
                <a:spcPts val="1350"/>
              </a:lnSpc>
              <a:buNone/>
            </a:pPr>
            <a:r>
              <a:rPr lang="en-US" sz="1050" dirty="0">
                <a:solidFill>
                  <a:srgbClr val="C9C2C0"/>
                </a:solidFill>
                <a:latin typeface="Gelasio" pitchFamily="34" charset="0"/>
                <a:ea typeface="Gelasio" pitchFamily="34" charset="-122"/>
                <a:cs typeface="Gelasio" pitchFamily="34" charset="-120"/>
              </a:rPr>
              <a:t>Generates quantum keys</a:t>
            </a:r>
            <a:endParaRPr lang="en-US" sz="1050" dirty="0"/>
          </a:p>
        </p:txBody>
      </p:sp>
      <p:sp>
        <p:nvSpPr>
          <p:cNvPr id="10" name="Text 7"/>
          <p:cNvSpPr/>
          <p:nvPr/>
        </p:nvSpPr>
        <p:spPr>
          <a:xfrm>
            <a:off x="9724771" y="2784924"/>
            <a:ext cx="2470079" cy="308760"/>
          </a:xfrm>
          <a:prstGeom prst="rect">
            <a:avLst/>
          </a:prstGeom>
          <a:noFill/>
          <a:ln/>
        </p:spPr>
        <p:txBody>
          <a:bodyPr wrap="none" lIns="0" tIns="0" rIns="0" bIns="0" rtlCol="0" anchor="t"/>
          <a:lstStyle/>
          <a:p>
            <a:pPr marL="0" indent="0" algn="l">
              <a:lnSpc>
                <a:spcPts val="1650"/>
              </a:lnSpc>
              <a:buNone/>
            </a:pPr>
            <a:r>
              <a:rPr lang="en-US" sz="1350" dirty="0">
                <a:solidFill>
                  <a:srgbClr val="D8B6A4"/>
                </a:solidFill>
                <a:latin typeface="Gelasio" pitchFamily="34" charset="0"/>
                <a:ea typeface="Gelasio" pitchFamily="34" charset="-122"/>
                <a:cs typeface="Gelasio" pitchFamily="34" charset="-120"/>
              </a:rPr>
              <a:t>Shor's Module</a:t>
            </a:r>
            <a:endParaRPr lang="en-US" sz="1350" dirty="0"/>
          </a:p>
        </p:txBody>
      </p:sp>
      <p:sp>
        <p:nvSpPr>
          <p:cNvPr id="11" name="Text 8"/>
          <p:cNvSpPr/>
          <p:nvPr/>
        </p:nvSpPr>
        <p:spPr>
          <a:xfrm>
            <a:off x="9724771" y="3181509"/>
            <a:ext cx="2953116" cy="247008"/>
          </a:xfrm>
          <a:prstGeom prst="rect">
            <a:avLst/>
          </a:prstGeom>
          <a:noFill/>
          <a:ln/>
        </p:spPr>
        <p:txBody>
          <a:bodyPr wrap="none" lIns="0" tIns="0" rIns="0" bIns="0" rtlCol="0" anchor="t"/>
          <a:lstStyle/>
          <a:p>
            <a:pPr marL="0" indent="0" algn="l">
              <a:lnSpc>
                <a:spcPts val="1350"/>
              </a:lnSpc>
              <a:buNone/>
            </a:pPr>
            <a:r>
              <a:rPr lang="en-US" sz="1050" dirty="0">
                <a:solidFill>
                  <a:srgbClr val="C9C2C0"/>
                </a:solidFill>
                <a:latin typeface="Gelasio" pitchFamily="34" charset="0"/>
                <a:ea typeface="Gelasio" pitchFamily="34" charset="-122"/>
                <a:cs typeface="Gelasio" pitchFamily="34" charset="-120"/>
              </a:rPr>
              <a:t>Performs quantum computation</a:t>
            </a:r>
            <a:endParaRPr lang="en-US" sz="1050" dirty="0"/>
          </a:p>
        </p:txBody>
      </p:sp>
      <p:sp>
        <p:nvSpPr>
          <p:cNvPr id="12" name="Text 9"/>
          <p:cNvSpPr/>
          <p:nvPr/>
        </p:nvSpPr>
        <p:spPr>
          <a:xfrm>
            <a:off x="2512310" y="2065856"/>
            <a:ext cx="2470079" cy="308760"/>
          </a:xfrm>
          <a:prstGeom prst="rect">
            <a:avLst/>
          </a:prstGeom>
          <a:noFill/>
          <a:ln/>
        </p:spPr>
        <p:txBody>
          <a:bodyPr wrap="none" lIns="0" tIns="0" rIns="0" bIns="0" rtlCol="0" anchor="t"/>
          <a:lstStyle/>
          <a:p>
            <a:pPr marL="0" indent="0" algn="r">
              <a:lnSpc>
                <a:spcPts val="1650"/>
              </a:lnSpc>
              <a:buNone/>
            </a:pPr>
            <a:r>
              <a:rPr lang="en-US" sz="1350" dirty="0">
                <a:solidFill>
                  <a:srgbClr val="D8B6A4"/>
                </a:solidFill>
                <a:latin typeface="Gelasio" pitchFamily="34" charset="0"/>
                <a:ea typeface="Gelasio" pitchFamily="34" charset="-122"/>
                <a:cs typeface="Gelasio" pitchFamily="34" charset="-120"/>
              </a:rPr>
              <a:t>Docker Deployment</a:t>
            </a:r>
            <a:endParaRPr lang="en-US" sz="1350" dirty="0"/>
          </a:p>
        </p:txBody>
      </p:sp>
      <p:sp>
        <p:nvSpPr>
          <p:cNvPr id="13" name="Text 10"/>
          <p:cNvSpPr/>
          <p:nvPr/>
        </p:nvSpPr>
        <p:spPr>
          <a:xfrm>
            <a:off x="1952426" y="2462441"/>
            <a:ext cx="3029964" cy="247008"/>
          </a:xfrm>
          <a:prstGeom prst="rect">
            <a:avLst/>
          </a:prstGeom>
          <a:noFill/>
          <a:ln/>
        </p:spPr>
        <p:txBody>
          <a:bodyPr wrap="none" lIns="0" tIns="0" rIns="0" bIns="0" rtlCol="0" anchor="t"/>
          <a:lstStyle/>
          <a:p>
            <a:pPr marL="0" indent="0" algn="r">
              <a:lnSpc>
                <a:spcPts val="1350"/>
              </a:lnSpc>
              <a:buNone/>
            </a:pPr>
            <a:r>
              <a:rPr lang="en-US" sz="1050" dirty="0">
                <a:solidFill>
                  <a:srgbClr val="C9C2C0"/>
                </a:solidFill>
                <a:latin typeface="Gelasio" pitchFamily="34" charset="0"/>
                <a:ea typeface="Gelasio" pitchFamily="34" charset="-122"/>
                <a:cs typeface="Gelasio" pitchFamily="34" charset="-120"/>
              </a:rPr>
              <a:t>Containers for all services</a:t>
            </a:r>
            <a:endParaRPr lang="en-US" sz="1050" dirty="0"/>
          </a:p>
        </p:txBody>
      </p:sp>
      <p:sp>
        <p:nvSpPr>
          <p:cNvPr id="14" name="Text 11"/>
          <p:cNvSpPr/>
          <p:nvPr/>
        </p:nvSpPr>
        <p:spPr>
          <a:xfrm>
            <a:off x="1686401" y="6888123"/>
            <a:ext cx="11257598" cy="854393"/>
          </a:xfrm>
          <a:prstGeom prst="rect">
            <a:avLst/>
          </a:prstGeom>
          <a:noFill/>
          <a:ln/>
        </p:spPr>
        <p:txBody>
          <a:bodyPr wrap="square" lIns="0" tIns="0" rIns="0" bIns="0" rtlCol="0" anchor="t"/>
          <a:lstStyle/>
          <a:p>
            <a:pPr marL="0" indent="0" algn="l">
              <a:lnSpc>
                <a:spcPts val="2200"/>
              </a:lnSpc>
              <a:buNone/>
            </a:pPr>
            <a:r>
              <a:rPr lang="en-US" sz="1400" dirty="0">
                <a:solidFill>
                  <a:srgbClr val="C9C2C0"/>
                </a:solidFill>
                <a:latin typeface="Gelasio" pitchFamily="34" charset="0"/>
                <a:ea typeface="Gelasio" pitchFamily="34" charset="-122"/>
                <a:cs typeface="Gelasio" pitchFamily="34" charset="-120"/>
              </a:rPr>
              <a:t>Our system integrates several critical components to achieve quantum-safe communication. The Frontend Chat Interface provides user interaction, while the Backend Server orchestrates message flow and interactions with the quantum modules. The BB84 module handles key distribution, and Shor’s Algorithm is used for analytical purposes. Docker facilitates seamless deployment and scalability of the entire system.</a:t>
            </a:r>
            <a:endParaRPr lang="en-US" sz="1400" dirty="0"/>
          </a:p>
        </p:txBody>
      </p:sp>
      <p:sp>
        <p:nvSpPr>
          <p:cNvPr id="15" name="Rectangle: Rounded Corners 14">
            <a:extLst>
              <a:ext uri="{FF2B5EF4-FFF2-40B4-BE49-F238E27FC236}">
                <a16:creationId xmlns:a16="http://schemas.microsoft.com/office/drawing/2014/main" id="{FEFC8819-A082-A959-7548-6B6A0ED8911F}"/>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9620" y="604718"/>
            <a:ext cx="6186726" cy="687110"/>
          </a:xfrm>
          <a:prstGeom prst="rect">
            <a:avLst/>
          </a:prstGeom>
          <a:noFill/>
          <a:ln/>
        </p:spPr>
        <p:txBody>
          <a:bodyPr wrap="none" lIns="0" tIns="0" rIns="0" bIns="0" rtlCol="0" anchor="t"/>
          <a:lstStyle/>
          <a:p>
            <a:pPr marL="0" indent="0" algn="l">
              <a:lnSpc>
                <a:spcPts val="5400"/>
              </a:lnSpc>
              <a:buNone/>
            </a:pPr>
            <a:r>
              <a:rPr lang="en-US" sz="4300" dirty="0">
                <a:solidFill>
                  <a:srgbClr val="D8B6A4"/>
                </a:solidFill>
                <a:latin typeface="Gelasio" pitchFamily="34" charset="0"/>
                <a:ea typeface="Gelasio" pitchFamily="34" charset="-122"/>
                <a:cs typeface="Gelasio" pitchFamily="34" charset="-120"/>
              </a:rPr>
              <a:t>Functional Requirements</a:t>
            </a:r>
            <a:endParaRPr lang="en-US" sz="4300" dirty="0"/>
          </a:p>
        </p:txBody>
      </p:sp>
      <p:sp>
        <p:nvSpPr>
          <p:cNvPr id="3" name="Shape 1"/>
          <p:cNvSpPr/>
          <p:nvPr/>
        </p:nvSpPr>
        <p:spPr>
          <a:xfrm>
            <a:off x="769620" y="2061329"/>
            <a:ext cx="4217194" cy="2682835"/>
          </a:xfrm>
          <a:prstGeom prst="roundRect">
            <a:avLst>
              <a:gd name="adj" fmla="val 5453"/>
            </a:avLst>
          </a:prstGeom>
          <a:solidFill>
            <a:srgbClr val="464342"/>
          </a:solidFill>
          <a:ln/>
        </p:spPr>
      </p:sp>
      <p:sp>
        <p:nvSpPr>
          <p:cNvPr id="4" name="Shape 2"/>
          <p:cNvSpPr/>
          <p:nvPr/>
        </p:nvSpPr>
        <p:spPr>
          <a:xfrm>
            <a:off x="769620" y="2030849"/>
            <a:ext cx="4217194" cy="121920"/>
          </a:xfrm>
          <a:prstGeom prst="roundRect">
            <a:avLst>
              <a:gd name="adj" fmla="val 27055"/>
            </a:avLst>
          </a:prstGeom>
          <a:solidFill>
            <a:srgbClr val="C49F8C"/>
          </a:solidFill>
          <a:ln/>
        </p:spPr>
      </p:sp>
      <p:sp>
        <p:nvSpPr>
          <p:cNvPr id="5" name="Shape 3"/>
          <p:cNvSpPr/>
          <p:nvPr/>
        </p:nvSpPr>
        <p:spPr>
          <a:xfrm>
            <a:off x="2548414" y="1731526"/>
            <a:ext cx="659606" cy="659606"/>
          </a:xfrm>
          <a:prstGeom prst="roundRect">
            <a:avLst>
              <a:gd name="adj" fmla="val 138628"/>
            </a:avLst>
          </a:prstGeom>
          <a:solidFill>
            <a:srgbClr val="C49F8C"/>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46296" y="1929408"/>
            <a:ext cx="263843" cy="263843"/>
          </a:xfrm>
          <a:prstGeom prst="rect">
            <a:avLst/>
          </a:prstGeom>
        </p:spPr>
      </p:pic>
      <p:sp>
        <p:nvSpPr>
          <p:cNvPr id="7" name="Text 4"/>
          <p:cNvSpPr/>
          <p:nvPr/>
        </p:nvSpPr>
        <p:spPr>
          <a:xfrm>
            <a:off x="1019889" y="2611041"/>
            <a:ext cx="2748796" cy="343614"/>
          </a:xfrm>
          <a:prstGeom prst="rect">
            <a:avLst/>
          </a:prstGeom>
          <a:noFill/>
          <a:ln/>
        </p:spPr>
        <p:txBody>
          <a:bodyPr wrap="none" lIns="0" tIns="0" rIns="0" bIns="0" rtlCol="0" anchor="t"/>
          <a:lstStyle/>
          <a:p>
            <a:pPr marL="0" indent="0" algn="l">
              <a:lnSpc>
                <a:spcPts val="2700"/>
              </a:lnSpc>
              <a:buNone/>
            </a:pPr>
            <a:r>
              <a:rPr lang="en-US" sz="2150" dirty="0">
                <a:solidFill>
                  <a:srgbClr val="C9C2C0"/>
                </a:solidFill>
                <a:latin typeface="Gelasio" pitchFamily="34" charset="0"/>
                <a:ea typeface="Gelasio" pitchFamily="34" charset="-122"/>
                <a:cs typeface="Gelasio" pitchFamily="34" charset="-120"/>
              </a:rPr>
              <a:t>Real-time Messaging</a:t>
            </a:r>
            <a:endParaRPr lang="en-US" sz="2150" dirty="0"/>
          </a:p>
        </p:txBody>
      </p:sp>
      <p:sp>
        <p:nvSpPr>
          <p:cNvPr id="8" name="Text 5"/>
          <p:cNvSpPr/>
          <p:nvPr/>
        </p:nvSpPr>
        <p:spPr>
          <a:xfrm>
            <a:off x="1019889" y="3086576"/>
            <a:ext cx="3716655" cy="1055489"/>
          </a:xfrm>
          <a:prstGeom prst="rect">
            <a:avLst/>
          </a:prstGeom>
          <a:noFill/>
          <a:ln/>
        </p:spPr>
        <p:txBody>
          <a:bodyPr wrap="square" lIns="0" tIns="0" rIns="0" bIns="0" rtlCol="0" anchor="t"/>
          <a:lstStyle/>
          <a:p>
            <a:pPr>
              <a:lnSpc>
                <a:spcPts val="2750"/>
              </a:lnSpc>
            </a:pPr>
            <a:r>
              <a:rPr lang="en-US" sz="1600" dirty="0">
                <a:latin typeface="Gelasio" panose="020B0604020202020204" charset="0"/>
                <a:cs typeface="Gelasio" panose="020B0604020202020204" charset="0"/>
              </a:rPr>
              <a:t>Users can send and receive messages instantly</a:t>
            </a:r>
            <a:r>
              <a:rPr lang="en-US" sz="1700" dirty="0">
                <a:solidFill>
                  <a:srgbClr val="C9C2C0"/>
                </a:solidFill>
                <a:latin typeface="Gelasio" panose="020B0604020202020204" charset="0"/>
                <a:ea typeface="Gelasio" pitchFamily="34" charset="-122"/>
                <a:cs typeface="Gelasio" panose="020B0604020202020204" charset="0"/>
              </a:rPr>
              <a:t>, </a:t>
            </a:r>
            <a:r>
              <a:rPr lang="en-IN" sz="1600" dirty="0">
                <a:latin typeface="Gelasio" panose="020B0604020202020204" charset="0"/>
                <a:cs typeface="Gelasio" panose="020B0604020202020204" charset="0"/>
              </a:rPr>
              <a:t>Supports one-to-one communication</a:t>
            </a:r>
            <a:r>
              <a:rPr lang="en-US" sz="1700" dirty="0">
                <a:solidFill>
                  <a:srgbClr val="C9C2C0"/>
                </a:solidFill>
                <a:latin typeface="Gelasio" panose="020B0604020202020204" charset="0"/>
                <a:ea typeface="Gelasio" pitchFamily="34" charset="-122"/>
                <a:cs typeface="Gelasio" panose="020B0604020202020204" charset="0"/>
              </a:rPr>
              <a:t>.</a:t>
            </a:r>
            <a:endParaRPr lang="en-US" sz="1700" dirty="0">
              <a:latin typeface="Gelasio" panose="020B0604020202020204" charset="0"/>
              <a:cs typeface="Gelasio" panose="020B0604020202020204" charset="0"/>
            </a:endParaRPr>
          </a:p>
        </p:txBody>
      </p:sp>
      <p:sp>
        <p:nvSpPr>
          <p:cNvPr id="9" name="Shape 6"/>
          <p:cNvSpPr/>
          <p:nvPr/>
        </p:nvSpPr>
        <p:spPr>
          <a:xfrm>
            <a:off x="5206603" y="2061329"/>
            <a:ext cx="4217194" cy="2682835"/>
          </a:xfrm>
          <a:prstGeom prst="roundRect">
            <a:avLst>
              <a:gd name="adj" fmla="val 5453"/>
            </a:avLst>
          </a:prstGeom>
          <a:solidFill>
            <a:srgbClr val="464342"/>
          </a:solidFill>
          <a:ln/>
        </p:spPr>
      </p:sp>
      <p:sp>
        <p:nvSpPr>
          <p:cNvPr id="10" name="Shape 7"/>
          <p:cNvSpPr/>
          <p:nvPr/>
        </p:nvSpPr>
        <p:spPr>
          <a:xfrm>
            <a:off x="5206603" y="2030849"/>
            <a:ext cx="4217194" cy="121920"/>
          </a:xfrm>
          <a:prstGeom prst="roundRect">
            <a:avLst>
              <a:gd name="adj" fmla="val 27055"/>
            </a:avLst>
          </a:prstGeom>
          <a:solidFill>
            <a:srgbClr val="C49F8C"/>
          </a:solidFill>
          <a:ln/>
        </p:spPr>
      </p:sp>
      <p:sp>
        <p:nvSpPr>
          <p:cNvPr id="11" name="Shape 8"/>
          <p:cNvSpPr/>
          <p:nvPr/>
        </p:nvSpPr>
        <p:spPr>
          <a:xfrm>
            <a:off x="6985397" y="1731526"/>
            <a:ext cx="659606" cy="659606"/>
          </a:xfrm>
          <a:prstGeom prst="roundRect">
            <a:avLst>
              <a:gd name="adj" fmla="val 138628"/>
            </a:avLst>
          </a:prstGeom>
          <a:solidFill>
            <a:srgbClr val="C49F8C"/>
          </a:solidFill>
          <a:ln/>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83279" y="1929408"/>
            <a:ext cx="263843" cy="263843"/>
          </a:xfrm>
          <a:prstGeom prst="rect">
            <a:avLst/>
          </a:prstGeom>
        </p:spPr>
      </p:pic>
      <p:sp>
        <p:nvSpPr>
          <p:cNvPr id="13" name="Text 9"/>
          <p:cNvSpPr/>
          <p:nvPr/>
        </p:nvSpPr>
        <p:spPr>
          <a:xfrm>
            <a:off x="5456873" y="2611041"/>
            <a:ext cx="2748796" cy="343614"/>
          </a:xfrm>
          <a:prstGeom prst="rect">
            <a:avLst/>
          </a:prstGeom>
          <a:noFill/>
          <a:ln/>
        </p:spPr>
        <p:txBody>
          <a:bodyPr wrap="none" lIns="0" tIns="0" rIns="0" bIns="0" rtlCol="0" anchor="t"/>
          <a:lstStyle/>
          <a:p>
            <a:pPr marL="0" indent="0" algn="l">
              <a:lnSpc>
                <a:spcPts val="2700"/>
              </a:lnSpc>
              <a:buNone/>
            </a:pPr>
            <a:r>
              <a:rPr lang="en-US" sz="2150" dirty="0">
                <a:solidFill>
                  <a:srgbClr val="C9C2C0"/>
                </a:solidFill>
                <a:latin typeface="Gelasio" pitchFamily="34" charset="0"/>
                <a:ea typeface="Gelasio" pitchFamily="34" charset="-122"/>
                <a:cs typeface="Gelasio" pitchFamily="34" charset="-120"/>
              </a:rPr>
              <a:t>BB84 Key Generation</a:t>
            </a:r>
            <a:endParaRPr lang="en-US" sz="2150" dirty="0"/>
          </a:p>
        </p:txBody>
      </p:sp>
      <p:sp>
        <p:nvSpPr>
          <p:cNvPr id="14" name="Text 10"/>
          <p:cNvSpPr/>
          <p:nvPr/>
        </p:nvSpPr>
        <p:spPr>
          <a:xfrm>
            <a:off x="5456873" y="3086576"/>
            <a:ext cx="3716655" cy="1407319"/>
          </a:xfrm>
          <a:prstGeom prst="rect">
            <a:avLst/>
          </a:prstGeom>
          <a:noFill/>
          <a:ln/>
        </p:spPr>
        <p:txBody>
          <a:bodyPr wrap="square" lIns="0" tIns="0" rIns="0" bIns="0" rtlCol="0" anchor="t"/>
          <a:lstStyle/>
          <a:p>
            <a:pPr>
              <a:lnSpc>
                <a:spcPts val="2750"/>
              </a:lnSpc>
            </a:pPr>
            <a:r>
              <a:rPr lang="en-US" sz="1600" dirty="0">
                <a:latin typeface="Gelasio" panose="020B0604020202020204" charset="0"/>
                <a:cs typeface="Gelasio" panose="020B0604020202020204" charset="0"/>
              </a:rPr>
              <a:t>The system generates secure keys using BB84,</a:t>
            </a:r>
            <a:r>
              <a:rPr lang="en-US" sz="1700" dirty="0">
                <a:solidFill>
                  <a:srgbClr val="C9C2C0"/>
                </a:solidFill>
                <a:latin typeface="Gelasio" panose="020B0604020202020204" charset="0"/>
                <a:ea typeface="Gelasio" pitchFamily="34" charset="-122"/>
                <a:cs typeface="Gelasio" panose="020B0604020202020204" charset="0"/>
              </a:rPr>
              <a:t> </a:t>
            </a:r>
            <a:r>
              <a:rPr lang="en-US" sz="1600" dirty="0">
                <a:latin typeface="Gelasio" panose="020B0604020202020204" charset="0"/>
                <a:cs typeface="Gelasio" panose="020B0604020202020204" charset="0"/>
              </a:rPr>
              <a:t>Keys are shared safely between users</a:t>
            </a:r>
            <a:r>
              <a:rPr lang="en-US" sz="1700" dirty="0">
                <a:solidFill>
                  <a:srgbClr val="C9C2C0"/>
                </a:solidFill>
                <a:latin typeface="Gelasio" panose="020B0604020202020204" charset="0"/>
                <a:cs typeface="Gelasio" panose="020B0604020202020204" charset="0"/>
              </a:rPr>
              <a:t>.</a:t>
            </a:r>
            <a:endParaRPr lang="en-US" sz="1700" dirty="0">
              <a:latin typeface="Gelasio" panose="020B0604020202020204" charset="0"/>
              <a:cs typeface="Gelasio" panose="020B0604020202020204" charset="0"/>
            </a:endParaRPr>
          </a:p>
        </p:txBody>
      </p:sp>
      <p:sp>
        <p:nvSpPr>
          <p:cNvPr id="15" name="Shape 11"/>
          <p:cNvSpPr/>
          <p:nvPr/>
        </p:nvSpPr>
        <p:spPr>
          <a:xfrm>
            <a:off x="9643586" y="2061329"/>
            <a:ext cx="4217194" cy="2682835"/>
          </a:xfrm>
          <a:prstGeom prst="roundRect">
            <a:avLst>
              <a:gd name="adj" fmla="val 5453"/>
            </a:avLst>
          </a:prstGeom>
          <a:solidFill>
            <a:srgbClr val="464342"/>
          </a:solidFill>
          <a:ln/>
        </p:spPr>
      </p:sp>
      <p:sp>
        <p:nvSpPr>
          <p:cNvPr id="16" name="Shape 12"/>
          <p:cNvSpPr/>
          <p:nvPr/>
        </p:nvSpPr>
        <p:spPr>
          <a:xfrm>
            <a:off x="9643586" y="2030849"/>
            <a:ext cx="4217194" cy="121920"/>
          </a:xfrm>
          <a:prstGeom prst="roundRect">
            <a:avLst>
              <a:gd name="adj" fmla="val 27055"/>
            </a:avLst>
          </a:prstGeom>
          <a:solidFill>
            <a:srgbClr val="C49F8C"/>
          </a:solidFill>
          <a:ln/>
        </p:spPr>
      </p:sp>
      <p:sp>
        <p:nvSpPr>
          <p:cNvPr id="17" name="Shape 13"/>
          <p:cNvSpPr/>
          <p:nvPr/>
        </p:nvSpPr>
        <p:spPr>
          <a:xfrm>
            <a:off x="11422380" y="1731526"/>
            <a:ext cx="659606" cy="659606"/>
          </a:xfrm>
          <a:prstGeom prst="roundRect">
            <a:avLst>
              <a:gd name="adj" fmla="val 138628"/>
            </a:avLst>
          </a:prstGeom>
          <a:solidFill>
            <a:srgbClr val="C49F8C"/>
          </a:solidFill>
          <a:ln/>
        </p:spPr>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20262" y="1929408"/>
            <a:ext cx="263843" cy="263843"/>
          </a:xfrm>
          <a:prstGeom prst="rect">
            <a:avLst/>
          </a:prstGeom>
        </p:spPr>
      </p:pic>
      <p:sp>
        <p:nvSpPr>
          <p:cNvPr id="19" name="Text 14"/>
          <p:cNvSpPr/>
          <p:nvPr/>
        </p:nvSpPr>
        <p:spPr>
          <a:xfrm>
            <a:off x="9893856" y="2611041"/>
            <a:ext cx="3044428" cy="343614"/>
          </a:xfrm>
          <a:prstGeom prst="rect">
            <a:avLst/>
          </a:prstGeom>
          <a:noFill/>
          <a:ln/>
        </p:spPr>
        <p:txBody>
          <a:bodyPr wrap="none" lIns="0" tIns="0" rIns="0" bIns="0" rtlCol="0" anchor="t"/>
          <a:lstStyle/>
          <a:p>
            <a:pPr marL="0" indent="0" algn="l">
              <a:lnSpc>
                <a:spcPts val="2700"/>
              </a:lnSpc>
              <a:buNone/>
            </a:pPr>
            <a:r>
              <a:rPr lang="en-US" sz="2150" dirty="0">
                <a:solidFill>
                  <a:srgbClr val="C9C2C0"/>
                </a:solidFill>
                <a:latin typeface="Gelasio" pitchFamily="34" charset="0"/>
                <a:ea typeface="Gelasio" pitchFamily="34" charset="-122"/>
                <a:cs typeface="Gelasio" pitchFamily="34" charset="-120"/>
              </a:rPr>
              <a:t>AES Message Encryption</a:t>
            </a:r>
            <a:endParaRPr lang="en-US" sz="2150" dirty="0"/>
          </a:p>
        </p:txBody>
      </p:sp>
      <p:sp>
        <p:nvSpPr>
          <p:cNvPr id="20" name="Text 15"/>
          <p:cNvSpPr/>
          <p:nvPr/>
        </p:nvSpPr>
        <p:spPr>
          <a:xfrm>
            <a:off x="9893856" y="3086576"/>
            <a:ext cx="3716655" cy="1407319"/>
          </a:xfrm>
          <a:prstGeom prst="rect">
            <a:avLst/>
          </a:prstGeom>
          <a:noFill/>
          <a:ln/>
        </p:spPr>
        <p:txBody>
          <a:bodyPr wrap="square" lIns="0" tIns="0" rIns="0" bIns="0" rtlCol="0" anchor="t"/>
          <a:lstStyle/>
          <a:p>
            <a:pPr>
              <a:lnSpc>
                <a:spcPts val="2750"/>
              </a:lnSpc>
            </a:pPr>
            <a:r>
              <a:rPr lang="en-US" sz="1600" dirty="0">
                <a:latin typeface="Gelasio" panose="020B0604020202020204" charset="0"/>
                <a:cs typeface="Gelasio" panose="020B0604020202020204" charset="0"/>
              </a:rPr>
              <a:t>Messages are encrypted before sending</a:t>
            </a:r>
            <a:r>
              <a:rPr lang="en-US" sz="1400" dirty="0">
                <a:latin typeface="Gelasio" panose="020B0604020202020204" charset="0"/>
                <a:cs typeface="Gelasio" panose="020B0604020202020204" charset="0"/>
              </a:rPr>
              <a:t>, </a:t>
            </a:r>
            <a:r>
              <a:rPr lang="en-US" sz="1600" dirty="0">
                <a:latin typeface="Gelasio" panose="020B0604020202020204" charset="0"/>
                <a:ea typeface="Gelasio" pitchFamily="34" charset="-122"/>
                <a:cs typeface="Gelasio" panose="020B0604020202020204" charset="0"/>
              </a:rPr>
              <a:t>Advanced Encryption Standard (AES)</a:t>
            </a:r>
            <a:r>
              <a:rPr lang="en-US" sz="1700" dirty="0">
                <a:solidFill>
                  <a:srgbClr val="C9C2C0"/>
                </a:solidFill>
                <a:latin typeface="Gelasio" panose="020B0604020202020204" charset="0"/>
                <a:ea typeface="Gelasio" pitchFamily="34" charset="-122"/>
                <a:cs typeface="Gelasio" panose="020B0604020202020204" charset="0"/>
              </a:rPr>
              <a:t>,</a:t>
            </a:r>
            <a:r>
              <a:rPr lang="en-US" sz="1600" dirty="0">
                <a:latin typeface="Gelasio" panose="020B0604020202020204" charset="0"/>
                <a:cs typeface="Gelasio" panose="020B0604020202020204" charset="0"/>
              </a:rPr>
              <a:t> Only the receiver can read the message</a:t>
            </a:r>
            <a:endParaRPr lang="en-US" sz="1700" dirty="0">
              <a:latin typeface="Gelasio" panose="020B0604020202020204" charset="0"/>
              <a:cs typeface="Gelasio" panose="020B0604020202020204" charset="0"/>
            </a:endParaRPr>
          </a:p>
        </p:txBody>
      </p:sp>
      <p:sp>
        <p:nvSpPr>
          <p:cNvPr id="21" name="Shape 16"/>
          <p:cNvSpPr/>
          <p:nvPr/>
        </p:nvSpPr>
        <p:spPr>
          <a:xfrm>
            <a:off x="769620" y="5293757"/>
            <a:ext cx="6435685" cy="2331006"/>
          </a:xfrm>
          <a:prstGeom prst="roundRect">
            <a:avLst>
              <a:gd name="adj" fmla="val 6276"/>
            </a:avLst>
          </a:prstGeom>
          <a:solidFill>
            <a:srgbClr val="464342"/>
          </a:solidFill>
          <a:ln/>
        </p:spPr>
      </p:sp>
      <p:sp>
        <p:nvSpPr>
          <p:cNvPr id="22" name="Shape 17"/>
          <p:cNvSpPr/>
          <p:nvPr/>
        </p:nvSpPr>
        <p:spPr>
          <a:xfrm>
            <a:off x="769620" y="5263277"/>
            <a:ext cx="6435685" cy="121920"/>
          </a:xfrm>
          <a:prstGeom prst="roundRect">
            <a:avLst>
              <a:gd name="adj" fmla="val 27055"/>
            </a:avLst>
          </a:prstGeom>
          <a:solidFill>
            <a:srgbClr val="C49F8C"/>
          </a:solidFill>
          <a:ln/>
        </p:spPr>
      </p:sp>
      <p:sp>
        <p:nvSpPr>
          <p:cNvPr id="23" name="Shape 18"/>
          <p:cNvSpPr/>
          <p:nvPr/>
        </p:nvSpPr>
        <p:spPr>
          <a:xfrm>
            <a:off x="3657600" y="4963954"/>
            <a:ext cx="659606" cy="659606"/>
          </a:xfrm>
          <a:prstGeom prst="roundRect">
            <a:avLst>
              <a:gd name="adj" fmla="val 138628"/>
            </a:avLst>
          </a:prstGeom>
          <a:solidFill>
            <a:srgbClr val="C49F8C"/>
          </a:solidFill>
          <a:ln/>
        </p:spPr>
      </p:sp>
      <p:pic>
        <p:nvPicPr>
          <p:cNvPr id="2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55482" y="5161836"/>
            <a:ext cx="263843" cy="263843"/>
          </a:xfrm>
          <a:prstGeom prst="rect">
            <a:avLst/>
          </a:prstGeom>
        </p:spPr>
      </p:pic>
      <p:sp>
        <p:nvSpPr>
          <p:cNvPr id="25" name="Text 19"/>
          <p:cNvSpPr/>
          <p:nvPr/>
        </p:nvSpPr>
        <p:spPr>
          <a:xfrm>
            <a:off x="1019889" y="5843468"/>
            <a:ext cx="2748796" cy="343614"/>
          </a:xfrm>
          <a:prstGeom prst="rect">
            <a:avLst/>
          </a:prstGeom>
          <a:noFill/>
          <a:ln/>
        </p:spPr>
        <p:txBody>
          <a:bodyPr wrap="none" lIns="0" tIns="0" rIns="0" bIns="0" rtlCol="0" anchor="t"/>
          <a:lstStyle/>
          <a:p>
            <a:pPr marL="0" indent="0" algn="l">
              <a:lnSpc>
                <a:spcPts val="2700"/>
              </a:lnSpc>
              <a:buNone/>
            </a:pPr>
            <a:r>
              <a:rPr lang="en-US" sz="2150" dirty="0">
                <a:solidFill>
                  <a:srgbClr val="C9C2C0"/>
                </a:solidFill>
                <a:latin typeface="Gelasio" pitchFamily="34" charset="0"/>
                <a:ea typeface="Gelasio" pitchFamily="34" charset="-122"/>
                <a:cs typeface="Gelasio" pitchFamily="34" charset="-120"/>
              </a:rPr>
              <a:t>Backend Chat Logging</a:t>
            </a:r>
            <a:endParaRPr lang="en-US" sz="2150" dirty="0"/>
          </a:p>
        </p:txBody>
      </p:sp>
      <p:sp>
        <p:nvSpPr>
          <p:cNvPr id="26" name="Text 20"/>
          <p:cNvSpPr/>
          <p:nvPr/>
        </p:nvSpPr>
        <p:spPr>
          <a:xfrm>
            <a:off x="1019889" y="6319004"/>
            <a:ext cx="5935147" cy="703659"/>
          </a:xfrm>
          <a:prstGeom prst="rect">
            <a:avLst/>
          </a:prstGeom>
          <a:noFill/>
          <a:ln/>
        </p:spPr>
        <p:txBody>
          <a:bodyPr wrap="square" lIns="0" tIns="0" rIns="0" bIns="0" rtlCol="0" anchor="t"/>
          <a:lstStyle/>
          <a:p>
            <a:pPr>
              <a:lnSpc>
                <a:spcPts val="2750"/>
              </a:lnSpc>
            </a:pPr>
            <a:r>
              <a:rPr lang="en-US" sz="1600" dirty="0">
                <a:latin typeface="Gelasio" panose="020B0604020202020204" charset="0"/>
                <a:cs typeface="Gelasio" panose="020B0604020202020204" charset="0"/>
              </a:rPr>
              <a:t>The server records chat messages</a:t>
            </a:r>
            <a:r>
              <a:rPr lang="en-US" sz="1700" dirty="0">
                <a:solidFill>
                  <a:srgbClr val="C9C2C0"/>
                </a:solidFill>
                <a:latin typeface="Gelasio" panose="020B0604020202020204" charset="0"/>
                <a:cs typeface="Gelasio" panose="020B0604020202020204" charset="0"/>
              </a:rPr>
              <a:t>,</a:t>
            </a:r>
            <a:r>
              <a:rPr lang="en-US" sz="1600" dirty="0">
                <a:latin typeface="Gelasio" panose="020B0604020202020204" charset="0"/>
                <a:cs typeface="Gelasio" panose="020B0604020202020204" charset="0"/>
              </a:rPr>
              <a:t> Used for monitoring and learning purposes</a:t>
            </a:r>
            <a:endParaRPr lang="en-US" sz="1700" dirty="0">
              <a:latin typeface="Gelasio" panose="020B0604020202020204" charset="0"/>
              <a:cs typeface="Gelasio" panose="020B0604020202020204" charset="0"/>
            </a:endParaRPr>
          </a:p>
        </p:txBody>
      </p:sp>
      <p:sp>
        <p:nvSpPr>
          <p:cNvPr id="27" name="Shape 21"/>
          <p:cNvSpPr/>
          <p:nvPr/>
        </p:nvSpPr>
        <p:spPr>
          <a:xfrm>
            <a:off x="7442029" y="5293757"/>
            <a:ext cx="6435685" cy="2331006"/>
          </a:xfrm>
          <a:prstGeom prst="roundRect">
            <a:avLst>
              <a:gd name="adj" fmla="val 6276"/>
            </a:avLst>
          </a:prstGeom>
          <a:solidFill>
            <a:srgbClr val="464342"/>
          </a:solidFill>
          <a:ln/>
        </p:spPr>
      </p:sp>
      <p:sp>
        <p:nvSpPr>
          <p:cNvPr id="28" name="Shape 22"/>
          <p:cNvSpPr/>
          <p:nvPr/>
        </p:nvSpPr>
        <p:spPr>
          <a:xfrm>
            <a:off x="7425095" y="5263277"/>
            <a:ext cx="6435685" cy="121920"/>
          </a:xfrm>
          <a:prstGeom prst="roundRect">
            <a:avLst>
              <a:gd name="adj" fmla="val 27055"/>
            </a:avLst>
          </a:prstGeom>
          <a:solidFill>
            <a:srgbClr val="C49F8C"/>
          </a:solidFill>
          <a:ln/>
        </p:spPr>
      </p:sp>
      <p:sp>
        <p:nvSpPr>
          <p:cNvPr id="29" name="Shape 23"/>
          <p:cNvSpPr/>
          <p:nvPr/>
        </p:nvSpPr>
        <p:spPr>
          <a:xfrm>
            <a:off x="10313075" y="4963954"/>
            <a:ext cx="659606" cy="659606"/>
          </a:xfrm>
          <a:prstGeom prst="roundRect">
            <a:avLst>
              <a:gd name="adj" fmla="val 138628"/>
            </a:avLst>
          </a:prstGeom>
          <a:solidFill>
            <a:srgbClr val="C49F8C"/>
          </a:solidFill>
          <a:ln/>
        </p:spPr>
      </p:sp>
      <p:pic>
        <p:nvPicPr>
          <p:cNvPr id="30"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510957" y="5161836"/>
            <a:ext cx="263843" cy="263843"/>
          </a:xfrm>
          <a:prstGeom prst="rect">
            <a:avLst/>
          </a:prstGeom>
        </p:spPr>
      </p:pic>
      <p:sp>
        <p:nvSpPr>
          <p:cNvPr id="31" name="Text 24"/>
          <p:cNvSpPr/>
          <p:nvPr/>
        </p:nvSpPr>
        <p:spPr>
          <a:xfrm>
            <a:off x="7675364" y="5843468"/>
            <a:ext cx="3350538" cy="343614"/>
          </a:xfrm>
          <a:prstGeom prst="rect">
            <a:avLst/>
          </a:prstGeom>
          <a:noFill/>
          <a:ln/>
        </p:spPr>
        <p:txBody>
          <a:bodyPr wrap="none" lIns="0" tIns="0" rIns="0" bIns="0" rtlCol="0" anchor="t"/>
          <a:lstStyle/>
          <a:p>
            <a:pPr marL="0" indent="0" algn="l">
              <a:lnSpc>
                <a:spcPts val="2700"/>
              </a:lnSpc>
              <a:buNone/>
            </a:pPr>
            <a:r>
              <a:rPr lang="en-US" sz="2150" dirty="0">
                <a:solidFill>
                  <a:srgbClr val="C9C2C0"/>
                </a:solidFill>
                <a:latin typeface="Gelasio" pitchFamily="34" charset="0"/>
                <a:ea typeface="Gelasio" pitchFamily="34" charset="-122"/>
                <a:cs typeface="Gelasio" pitchFamily="34" charset="-120"/>
              </a:rPr>
              <a:t>Quantum Security Analyzer</a:t>
            </a:r>
            <a:endParaRPr lang="en-US" sz="2150" dirty="0"/>
          </a:p>
        </p:txBody>
      </p:sp>
      <p:sp>
        <p:nvSpPr>
          <p:cNvPr id="32" name="Text 25"/>
          <p:cNvSpPr/>
          <p:nvPr/>
        </p:nvSpPr>
        <p:spPr>
          <a:xfrm>
            <a:off x="7675364" y="6319004"/>
            <a:ext cx="5935147" cy="1055489"/>
          </a:xfrm>
          <a:prstGeom prst="rect">
            <a:avLst/>
          </a:prstGeom>
          <a:noFill/>
          <a:ln/>
        </p:spPr>
        <p:txBody>
          <a:bodyPr wrap="square" lIns="0" tIns="0" rIns="0" bIns="0" rtlCol="0" anchor="t"/>
          <a:lstStyle/>
          <a:p>
            <a:pPr>
              <a:lnSpc>
                <a:spcPts val="2750"/>
              </a:lnSpc>
            </a:pPr>
            <a:r>
              <a:rPr lang="en-IN" sz="1600" dirty="0">
                <a:latin typeface="Gelasio" panose="020B0604020202020204" charset="0"/>
                <a:cs typeface="Gelasio" panose="020B0604020202020204" charset="0"/>
              </a:rPr>
              <a:t>Includes Shor’s Algorithm module,</a:t>
            </a:r>
            <a:r>
              <a:rPr lang="en-US" sz="1600" dirty="0">
                <a:latin typeface="Gelasio" panose="020B0604020202020204" charset="0"/>
                <a:cs typeface="Gelasio" panose="020B0604020202020204" charset="0"/>
              </a:rPr>
              <a:t>Shows how classical encryption can be broken</a:t>
            </a:r>
            <a:r>
              <a:rPr lang="en-IN" sz="1600" dirty="0">
                <a:latin typeface="Gelasio" panose="020B0604020202020204" charset="0"/>
                <a:cs typeface="Gelasio" panose="020B0604020202020204" charset="0"/>
              </a:rPr>
              <a:t>,</a:t>
            </a:r>
            <a:endParaRPr lang="en-US" sz="1700" dirty="0">
              <a:latin typeface="Gelasio" panose="020B0604020202020204" charset="0"/>
              <a:cs typeface="Gelasio" panose="020B0604020202020204" charset="0"/>
            </a:endParaRPr>
          </a:p>
        </p:txBody>
      </p:sp>
      <p:sp>
        <p:nvSpPr>
          <p:cNvPr id="33" name="Rectangle: Rounded Corners 32">
            <a:extLst>
              <a:ext uri="{FF2B5EF4-FFF2-40B4-BE49-F238E27FC236}">
                <a16:creationId xmlns:a16="http://schemas.microsoft.com/office/drawing/2014/main" id="{CB56669C-3074-069B-73AF-BBE539B186EA}"/>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515076" y="523637"/>
            <a:ext cx="5131594" cy="474226"/>
          </a:xfrm>
          <a:prstGeom prst="rect">
            <a:avLst/>
          </a:prstGeom>
          <a:noFill/>
          <a:ln/>
        </p:spPr>
        <p:txBody>
          <a:bodyPr wrap="none" lIns="0" tIns="0" rIns="0" bIns="0" rtlCol="0" anchor="t"/>
          <a:lstStyle/>
          <a:p>
            <a:pPr marL="0" indent="0" algn="l">
              <a:lnSpc>
                <a:spcPts val="3700"/>
              </a:lnSpc>
              <a:buNone/>
            </a:pPr>
            <a:r>
              <a:rPr lang="en-US" sz="2950" dirty="0">
                <a:solidFill>
                  <a:srgbClr val="C9C2C0"/>
                </a:solidFill>
                <a:latin typeface="Gelasio" panose="020B0604020202020204" charset="0"/>
                <a:ea typeface="Gelasio" pitchFamily="34" charset="-122"/>
                <a:cs typeface="Gelasio" panose="020B0604020202020204" charset="0"/>
              </a:rPr>
              <a:t>Non-Functional Requirements</a:t>
            </a:r>
            <a:endParaRPr lang="en-US" sz="2950" dirty="0">
              <a:solidFill>
                <a:srgbClr val="C9C2C0"/>
              </a:solidFill>
              <a:latin typeface="Gelasio" panose="020B0604020202020204" charset="0"/>
              <a:cs typeface="Gelasio" panose="020B0604020202020204" charset="0"/>
            </a:endParaRPr>
          </a:p>
        </p:txBody>
      </p:sp>
      <p:pic>
        <p:nvPicPr>
          <p:cNvPr id="3" name="Image 0" descr="preencoded.png"/>
          <p:cNvPicPr>
            <a:picLocks noChangeAspect="1"/>
          </p:cNvPicPr>
          <p:nvPr/>
        </p:nvPicPr>
        <p:blipFill>
          <a:blip r:embed="rId3"/>
          <a:stretch>
            <a:fillRect/>
          </a:stretch>
        </p:blipFill>
        <p:spPr>
          <a:xfrm>
            <a:off x="2515076" y="1301353"/>
            <a:ext cx="2257782" cy="1395413"/>
          </a:xfrm>
          <a:prstGeom prst="rect">
            <a:avLst/>
          </a:prstGeom>
        </p:spPr>
      </p:pic>
      <p:sp>
        <p:nvSpPr>
          <p:cNvPr id="4" name="Text 1"/>
          <p:cNvSpPr/>
          <p:nvPr/>
        </p:nvSpPr>
        <p:spPr>
          <a:xfrm>
            <a:off x="2515076" y="2848451"/>
            <a:ext cx="1897142" cy="237053"/>
          </a:xfrm>
          <a:prstGeom prst="rect">
            <a:avLst/>
          </a:prstGeom>
          <a:noFill/>
          <a:ln/>
        </p:spPr>
        <p:txBody>
          <a:bodyPr wrap="none" lIns="0" tIns="0" rIns="0" bIns="0" rtlCol="0" anchor="t"/>
          <a:lstStyle/>
          <a:p>
            <a:pPr marL="0" indent="0" algn="l">
              <a:lnSpc>
                <a:spcPts val="1850"/>
              </a:lnSpc>
              <a:buNone/>
            </a:pPr>
            <a:r>
              <a:rPr lang="en-US" sz="1450" dirty="0">
                <a:solidFill>
                  <a:srgbClr val="C9C2C0"/>
                </a:solidFill>
                <a:latin typeface="Gelasio" panose="020B0604020202020204" charset="0"/>
                <a:ea typeface="Gelasio" pitchFamily="34" charset="-122"/>
                <a:cs typeface="Gelasio" panose="020B0604020202020204" charset="0"/>
              </a:rPr>
              <a:t>High Security</a:t>
            </a:r>
            <a:endParaRPr lang="en-US" sz="1450" dirty="0">
              <a:solidFill>
                <a:srgbClr val="C9C2C0"/>
              </a:solidFill>
              <a:latin typeface="Gelasio" panose="020B0604020202020204" charset="0"/>
              <a:cs typeface="Gelasio" panose="020B0604020202020204" charset="0"/>
            </a:endParaRPr>
          </a:p>
        </p:txBody>
      </p:sp>
      <p:sp>
        <p:nvSpPr>
          <p:cNvPr id="5" name="Text 2"/>
          <p:cNvSpPr/>
          <p:nvPr/>
        </p:nvSpPr>
        <p:spPr>
          <a:xfrm>
            <a:off x="2515076" y="3176468"/>
            <a:ext cx="2257782" cy="728662"/>
          </a:xfrm>
          <a:prstGeom prst="rect">
            <a:avLst/>
          </a:prstGeom>
          <a:noFill/>
          <a:ln/>
        </p:spPr>
        <p:txBody>
          <a:bodyPr wrap="square" lIns="0" tIns="0" rIns="0" bIns="0" rtlCol="0" anchor="t"/>
          <a:lstStyle/>
          <a:p>
            <a:pPr marL="171450" indent="-171450">
              <a:lnSpc>
                <a:spcPts val="1900"/>
              </a:lnSpc>
              <a:buFont typeface="Arial" panose="020B0604020202020204" pitchFamily="34" charset="0"/>
              <a:buChar char="•"/>
            </a:pPr>
            <a:r>
              <a:rPr lang="en-US" sz="1200" dirty="0">
                <a:solidFill>
                  <a:srgbClr val="C9C2C0"/>
                </a:solidFill>
                <a:latin typeface="Gelasio" panose="020B0604020202020204" charset="0"/>
                <a:cs typeface="Gelasio" panose="020B0604020202020204" charset="0"/>
              </a:rPr>
              <a:t>The system provides strong protection for messages. </a:t>
            </a:r>
          </a:p>
          <a:p>
            <a:pPr marL="171450" indent="-171450">
              <a:lnSpc>
                <a:spcPts val="1900"/>
              </a:lnSpc>
              <a:buFont typeface="Arial" panose="020B0604020202020204" pitchFamily="34" charset="0"/>
              <a:buChar char="•"/>
            </a:pPr>
            <a:r>
              <a:rPr lang="en-US" sz="1200" dirty="0">
                <a:solidFill>
                  <a:srgbClr val="C9C2C0"/>
                </a:solidFill>
                <a:latin typeface="Gelasio" panose="020B0604020202020204" charset="0"/>
                <a:cs typeface="Gelasio" panose="020B0604020202020204" charset="0"/>
              </a:rPr>
              <a:t>Safe from </a:t>
            </a:r>
            <a:r>
              <a:rPr lang="en-US" sz="1200" b="1" dirty="0">
                <a:solidFill>
                  <a:srgbClr val="C9C2C0"/>
                </a:solidFill>
                <a:latin typeface="Gelasio" panose="020B0604020202020204" charset="0"/>
                <a:cs typeface="Gelasio" panose="020B0604020202020204" charset="0"/>
              </a:rPr>
              <a:t>normal hacking</a:t>
            </a:r>
            <a:r>
              <a:rPr lang="en-US" sz="1200" dirty="0">
                <a:solidFill>
                  <a:srgbClr val="C9C2C0"/>
                </a:solidFill>
                <a:latin typeface="Gelasio" panose="020B0604020202020204" charset="0"/>
                <a:cs typeface="Gelasio" panose="020B0604020202020204" charset="0"/>
              </a:rPr>
              <a:t> and </a:t>
            </a:r>
            <a:r>
              <a:rPr lang="en-US" sz="1200" b="1" dirty="0">
                <a:solidFill>
                  <a:srgbClr val="C9C2C0"/>
                </a:solidFill>
                <a:latin typeface="Gelasio" panose="020B0604020202020204" charset="0"/>
                <a:cs typeface="Gelasio" panose="020B0604020202020204" charset="0"/>
              </a:rPr>
              <a:t>future quantum attacks</a:t>
            </a:r>
            <a:endParaRPr lang="en-US" sz="1150" dirty="0">
              <a:solidFill>
                <a:srgbClr val="C9C2C0"/>
              </a:solidFill>
              <a:latin typeface="Gelasio" panose="020B0604020202020204" charset="0"/>
              <a:cs typeface="Gelasio" panose="020B0604020202020204" charset="0"/>
            </a:endParaRPr>
          </a:p>
        </p:txBody>
      </p:sp>
      <p:pic>
        <p:nvPicPr>
          <p:cNvPr id="6" name="Image 1" descr="preencoded.png"/>
          <p:cNvPicPr>
            <a:picLocks noChangeAspect="1"/>
          </p:cNvPicPr>
          <p:nvPr/>
        </p:nvPicPr>
        <p:blipFill>
          <a:blip r:embed="rId4"/>
          <a:stretch>
            <a:fillRect/>
          </a:stretch>
        </p:blipFill>
        <p:spPr>
          <a:xfrm>
            <a:off x="4962525" y="1301353"/>
            <a:ext cx="2257782" cy="1395413"/>
          </a:xfrm>
          <a:prstGeom prst="rect">
            <a:avLst/>
          </a:prstGeom>
        </p:spPr>
      </p:pic>
      <p:sp>
        <p:nvSpPr>
          <p:cNvPr id="7" name="Text 3"/>
          <p:cNvSpPr/>
          <p:nvPr/>
        </p:nvSpPr>
        <p:spPr>
          <a:xfrm>
            <a:off x="4962525" y="2848451"/>
            <a:ext cx="1949172" cy="237053"/>
          </a:xfrm>
          <a:prstGeom prst="rect">
            <a:avLst/>
          </a:prstGeom>
          <a:noFill/>
          <a:ln/>
        </p:spPr>
        <p:txBody>
          <a:bodyPr wrap="none" lIns="0" tIns="0" rIns="0" bIns="0" rtlCol="0" anchor="t"/>
          <a:lstStyle/>
          <a:p>
            <a:pPr marL="0" indent="0" algn="l">
              <a:lnSpc>
                <a:spcPts val="1850"/>
              </a:lnSpc>
              <a:buNone/>
            </a:pPr>
            <a:r>
              <a:rPr lang="en-US" sz="1450" dirty="0">
                <a:solidFill>
                  <a:srgbClr val="C9C2C0"/>
                </a:solidFill>
                <a:latin typeface="Gelasio" panose="020B0604020202020204" charset="0"/>
                <a:ea typeface="Gelasio" pitchFamily="34" charset="-122"/>
                <a:cs typeface="Gelasio" panose="020B0604020202020204" charset="0"/>
              </a:rPr>
              <a:t>Real-time Performance</a:t>
            </a:r>
            <a:endParaRPr lang="en-US" sz="1450" dirty="0">
              <a:solidFill>
                <a:srgbClr val="C9C2C0"/>
              </a:solidFill>
              <a:latin typeface="Gelasio" panose="020B0604020202020204" charset="0"/>
              <a:cs typeface="Gelasio" panose="020B0604020202020204" charset="0"/>
            </a:endParaRPr>
          </a:p>
        </p:txBody>
      </p:sp>
      <p:sp>
        <p:nvSpPr>
          <p:cNvPr id="8" name="Text 4"/>
          <p:cNvSpPr/>
          <p:nvPr/>
        </p:nvSpPr>
        <p:spPr>
          <a:xfrm>
            <a:off x="4962525" y="3176468"/>
            <a:ext cx="2257782" cy="971550"/>
          </a:xfrm>
          <a:prstGeom prst="rect">
            <a:avLst/>
          </a:prstGeom>
          <a:noFill/>
          <a:ln/>
        </p:spPr>
        <p:txBody>
          <a:bodyPr wrap="square" lIns="0" tIns="0" rIns="0" bIns="0" rtlCol="0" anchor="t"/>
          <a:lstStyle/>
          <a:p>
            <a:pPr marL="171450" indent="-171450">
              <a:lnSpc>
                <a:spcPts val="1900"/>
              </a:lnSpc>
              <a:buFont typeface="Arial" panose="020B0604020202020204" pitchFamily="34" charset="0"/>
              <a:buChar char="•"/>
            </a:pPr>
            <a:r>
              <a:rPr lang="en-US" sz="1200" dirty="0">
                <a:solidFill>
                  <a:srgbClr val="C9C2C0"/>
                </a:solidFill>
                <a:latin typeface="Gelasio" panose="020B0604020202020204" charset="0"/>
                <a:cs typeface="Gelasio" panose="020B0604020202020204" charset="0"/>
              </a:rPr>
              <a:t>Messages are delivered very fast</a:t>
            </a:r>
          </a:p>
          <a:p>
            <a:pPr marL="171450" indent="-171450">
              <a:lnSpc>
                <a:spcPts val="1900"/>
              </a:lnSpc>
              <a:buFont typeface="Arial" panose="020B0604020202020204" pitchFamily="34" charset="0"/>
              <a:buChar char="•"/>
            </a:pPr>
            <a:r>
              <a:rPr lang="en-US" sz="1200" dirty="0">
                <a:solidFill>
                  <a:srgbClr val="C9C2C0"/>
                </a:solidFill>
                <a:latin typeface="Gelasio" panose="020B0604020202020204" charset="0"/>
                <a:cs typeface="Gelasio" panose="020B0604020202020204" charset="0"/>
              </a:rPr>
              <a:t>No noticeable delay while chatting</a:t>
            </a:r>
            <a:endParaRPr lang="en-US" sz="1150" dirty="0">
              <a:solidFill>
                <a:srgbClr val="C9C2C0"/>
              </a:solidFill>
              <a:latin typeface="Gelasio" panose="020B0604020202020204" charset="0"/>
              <a:cs typeface="Gelasio" panose="020B0604020202020204" charset="0"/>
            </a:endParaRPr>
          </a:p>
        </p:txBody>
      </p:sp>
      <p:pic>
        <p:nvPicPr>
          <p:cNvPr id="9" name="Image 2" descr="preencoded.png"/>
          <p:cNvPicPr>
            <a:picLocks noChangeAspect="1"/>
          </p:cNvPicPr>
          <p:nvPr/>
        </p:nvPicPr>
        <p:blipFill>
          <a:blip r:embed="rId5"/>
          <a:stretch>
            <a:fillRect/>
          </a:stretch>
        </p:blipFill>
        <p:spPr>
          <a:xfrm>
            <a:off x="7409974" y="1301353"/>
            <a:ext cx="2257782" cy="1395413"/>
          </a:xfrm>
          <a:prstGeom prst="rect">
            <a:avLst/>
          </a:prstGeom>
        </p:spPr>
      </p:pic>
      <p:sp>
        <p:nvSpPr>
          <p:cNvPr id="10" name="Text 5"/>
          <p:cNvSpPr/>
          <p:nvPr/>
        </p:nvSpPr>
        <p:spPr>
          <a:xfrm>
            <a:off x="7409974" y="2848451"/>
            <a:ext cx="2257782" cy="474107"/>
          </a:xfrm>
          <a:prstGeom prst="rect">
            <a:avLst/>
          </a:prstGeom>
          <a:noFill/>
          <a:ln/>
        </p:spPr>
        <p:txBody>
          <a:bodyPr wrap="square" lIns="0" tIns="0" rIns="0" bIns="0" rtlCol="0" anchor="t"/>
          <a:lstStyle/>
          <a:p>
            <a:pPr marL="0" indent="0" algn="l">
              <a:lnSpc>
                <a:spcPts val="1850"/>
              </a:lnSpc>
              <a:buNone/>
            </a:pPr>
            <a:r>
              <a:rPr lang="en-US" sz="1450" dirty="0">
                <a:solidFill>
                  <a:srgbClr val="C9C2C0"/>
                </a:solidFill>
                <a:latin typeface="Gelasio" panose="020B0604020202020204" charset="0"/>
                <a:ea typeface="Gelasio" pitchFamily="34" charset="-122"/>
                <a:cs typeface="Gelasio" panose="020B0604020202020204" charset="0"/>
              </a:rPr>
              <a:t>High Reliability &amp; Availability</a:t>
            </a:r>
            <a:endParaRPr lang="en-US" sz="1450" dirty="0">
              <a:solidFill>
                <a:srgbClr val="C9C2C0"/>
              </a:solidFill>
              <a:latin typeface="Gelasio" panose="020B0604020202020204" charset="0"/>
              <a:cs typeface="Gelasio" panose="020B0604020202020204" charset="0"/>
            </a:endParaRPr>
          </a:p>
        </p:txBody>
      </p:sp>
      <p:sp>
        <p:nvSpPr>
          <p:cNvPr id="11" name="Text 6"/>
          <p:cNvSpPr/>
          <p:nvPr/>
        </p:nvSpPr>
        <p:spPr>
          <a:xfrm>
            <a:off x="7409974" y="3413522"/>
            <a:ext cx="2257782" cy="728662"/>
          </a:xfrm>
          <a:prstGeom prst="rect">
            <a:avLst/>
          </a:prstGeom>
          <a:noFill/>
          <a:ln/>
        </p:spPr>
        <p:txBody>
          <a:bodyPr wrap="square" lIns="0" tIns="0" rIns="0" bIns="0" rtlCol="0" anchor="t"/>
          <a:lstStyle/>
          <a:p>
            <a:pPr marL="171450" indent="-171450">
              <a:lnSpc>
                <a:spcPts val="1900"/>
              </a:lnSpc>
              <a:buFont typeface="Arial" panose="020B0604020202020204" pitchFamily="34" charset="0"/>
              <a:buChar char="•"/>
            </a:pPr>
            <a:r>
              <a:rPr lang="en-US" sz="1200" dirty="0">
                <a:solidFill>
                  <a:srgbClr val="C9C2C0"/>
                </a:solidFill>
                <a:latin typeface="Gelasio" panose="020B0604020202020204" charset="0"/>
                <a:cs typeface="Gelasio" panose="020B0604020202020204" charset="0"/>
              </a:rPr>
              <a:t>System works continuously without crashing. </a:t>
            </a:r>
          </a:p>
          <a:p>
            <a:pPr marL="171450" indent="-171450">
              <a:lnSpc>
                <a:spcPts val="1900"/>
              </a:lnSpc>
              <a:buFont typeface="Arial" panose="020B0604020202020204" pitchFamily="34" charset="0"/>
              <a:buChar char="•"/>
            </a:pPr>
            <a:r>
              <a:rPr lang="en-US" sz="1200" dirty="0">
                <a:solidFill>
                  <a:srgbClr val="C9C2C0"/>
                </a:solidFill>
                <a:latin typeface="Gelasio" panose="020B0604020202020204" charset="0"/>
                <a:cs typeface="Gelasio" panose="020B0604020202020204" charset="0"/>
              </a:rPr>
              <a:t>Available to users at all times</a:t>
            </a:r>
            <a:endParaRPr lang="en-US" sz="1150" dirty="0">
              <a:solidFill>
                <a:srgbClr val="C9C2C0"/>
              </a:solidFill>
              <a:latin typeface="Gelasio" panose="020B0604020202020204" charset="0"/>
              <a:cs typeface="Gelasio" panose="020B0604020202020204" charset="0"/>
            </a:endParaRPr>
          </a:p>
        </p:txBody>
      </p:sp>
      <p:pic>
        <p:nvPicPr>
          <p:cNvPr id="12" name="Image 3" descr="preencoded.png"/>
          <p:cNvPicPr>
            <a:picLocks noChangeAspect="1"/>
          </p:cNvPicPr>
          <p:nvPr/>
        </p:nvPicPr>
        <p:blipFill>
          <a:blip r:embed="rId6"/>
          <a:stretch>
            <a:fillRect/>
          </a:stretch>
        </p:blipFill>
        <p:spPr>
          <a:xfrm>
            <a:off x="9857423" y="1301353"/>
            <a:ext cx="2257782" cy="1395413"/>
          </a:xfrm>
          <a:prstGeom prst="rect">
            <a:avLst/>
          </a:prstGeom>
        </p:spPr>
      </p:pic>
      <p:sp>
        <p:nvSpPr>
          <p:cNvPr id="13" name="Text 7"/>
          <p:cNvSpPr/>
          <p:nvPr/>
        </p:nvSpPr>
        <p:spPr>
          <a:xfrm>
            <a:off x="9857423" y="2848451"/>
            <a:ext cx="1897142" cy="237053"/>
          </a:xfrm>
          <a:prstGeom prst="rect">
            <a:avLst/>
          </a:prstGeom>
          <a:noFill/>
          <a:ln/>
        </p:spPr>
        <p:txBody>
          <a:bodyPr wrap="none" lIns="0" tIns="0" rIns="0" bIns="0" rtlCol="0" anchor="t"/>
          <a:lstStyle/>
          <a:p>
            <a:pPr marL="0" indent="0" algn="l">
              <a:lnSpc>
                <a:spcPts val="1850"/>
              </a:lnSpc>
              <a:buNone/>
            </a:pPr>
            <a:r>
              <a:rPr lang="en-US" sz="1450" dirty="0">
                <a:solidFill>
                  <a:srgbClr val="C9C2C0"/>
                </a:solidFill>
                <a:latin typeface="Gelasio" panose="020B0604020202020204" charset="0"/>
                <a:ea typeface="Gelasio" pitchFamily="34" charset="-122"/>
                <a:cs typeface="Gelasio" panose="020B0604020202020204" charset="0"/>
              </a:rPr>
              <a:t>Scalability</a:t>
            </a:r>
            <a:endParaRPr lang="en-US" sz="1450" dirty="0">
              <a:solidFill>
                <a:srgbClr val="C9C2C0"/>
              </a:solidFill>
              <a:latin typeface="Gelasio" panose="020B0604020202020204" charset="0"/>
              <a:cs typeface="Gelasio" panose="020B0604020202020204" charset="0"/>
            </a:endParaRPr>
          </a:p>
        </p:txBody>
      </p:sp>
      <p:sp>
        <p:nvSpPr>
          <p:cNvPr id="14" name="Text 8"/>
          <p:cNvSpPr/>
          <p:nvPr/>
        </p:nvSpPr>
        <p:spPr>
          <a:xfrm>
            <a:off x="9857423" y="3176468"/>
            <a:ext cx="2257782" cy="971550"/>
          </a:xfrm>
          <a:prstGeom prst="rect">
            <a:avLst/>
          </a:prstGeom>
          <a:noFill/>
          <a:ln/>
        </p:spPr>
        <p:txBody>
          <a:bodyPr wrap="square" lIns="0" tIns="0" rIns="0" bIns="0" rtlCol="0" anchor="t"/>
          <a:lstStyle/>
          <a:p>
            <a:pPr>
              <a:lnSpc>
                <a:spcPts val="1900"/>
              </a:lnSpc>
            </a:pPr>
            <a:r>
              <a:rPr lang="en-US" sz="1200" dirty="0">
                <a:solidFill>
                  <a:srgbClr val="C9C2C0"/>
                </a:solidFill>
                <a:latin typeface="Gelasio" panose="020B0604020202020204" charset="0"/>
                <a:cs typeface="Gelasio" panose="020B0604020202020204" charset="0"/>
              </a:rPr>
              <a:t>Can support more users and more messages.,</a:t>
            </a:r>
            <a:r>
              <a:rPr lang="en-IN" sz="1200" dirty="0">
                <a:solidFill>
                  <a:srgbClr val="C9C2C0"/>
                </a:solidFill>
                <a:latin typeface="Gelasio" panose="020B0604020202020204" charset="0"/>
                <a:cs typeface="Gelasio" panose="020B0604020202020204" charset="0"/>
              </a:rPr>
              <a:t> Uses container technology (Docker)</a:t>
            </a:r>
            <a:endParaRPr lang="en-US" sz="1150" dirty="0">
              <a:solidFill>
                <a:srgbClr val="C9C2C0"/>
              </a:solidFill>
              <a:latin typeface="Gelasio" panose="020B0604020202020204" charset="0"/>
              <a:cs typeface="Gelasio" panose="020B0604020202020204" charset="0"/>
            </a:endParaRPr>
          </a:p>
        </p:txBody>
      </p:sp>
      <p:pic>
        <p:nvPicPr>
          <p:cNvPr id="15" name="Image 4" descr="preencoded.png"/>
          <p:cNvPicPr>
            <a:picLocks noChangeAspect="1"/>
          </p:cNvPicPr>
          <p:nvPr/>
        </p:nvPicPr>
        <p:blipFill>
          <a:blip r:embed="rId7"/>
          <a:stretch>
            <a:fillRect/>
          </a:stretch>
        </p:blipFill>
        <p:spPr>
          <a:xfrm>
            <a:off x="2515076" y="4451509"/>
            <a:ext cx="2257782" cy="1395413"/>
          </a:xfrm>
          <a:prstGeom prst="rect">
            <a:avLst/>
          </a:prstGeom>
        </p:spPr>
      </p:pic>
      <p:sp>
        <p:nvSpPr>
          <p:cNvPr id="16" name="Text 9"/>
          <p:cNvSpPr/>
          <p:nvPr/>
        </p:nvSpPr>
        <p:spPr>
          <a:xfrm>
            <a:off x="2515076" y="5998607"/>
            <a:ext cx="2257782" cy="474107"/>
          </a:xfrm>
          <a:prstGeom prst="rect">
            <a:avLst/>
          </a:prstGeom>
          <a:noFill/>
          <a:ln/>
        </p:spPr>
        <p:txBody>
          <a:bodyPr wrap="square" lIns="0" tIns="0" rIns="0" bIns="0" rtlCol="0" anchor="t"/>
          <a:lstStyle/>
          <a:p>
            <a:pPr marL="0" indent="0" algn="l">
              <a:lnSpc>
                <a:spcPts val="1850"/>
              </a:lnSpc>
              <a:buNone/>
            </a:pPr>
            <a:r>
              <a:rPr lang="en-US" sz="1450" dirty="0">
                <a:solidFill>
                  <a:srgbClr val="C9C2C0"/>
                </a:solidFill>
                <a:latin typeface="Gelasio" panose="020B0604020202020204" charset="0"/>
                <a:ea typeface="Gelasio" pitchFamily="34" charset="-122"/>
                <a:cs typeface="Gelasio" panose="020B0604020202020204" charset="0"/>
              </a:rPr>
              <a:t>Usability &amp; Maintainability</a:t>
            </a:r>
            <a:endParaRPr lang="en-US" sz="1450" dirty="0">
              <a:solidFill>
                <a:srgbClr val="C9C2C0"/>
              </a:solidFill>
              <a:latin typeface="Gelasio" panose="020B0604020202020204" charset="0"/>
              <a:cs typeface="Gelasio" panose="020B0604020202020204" charset="0"/>
            </a:endParaRPr>
          </a:p>
        </p:txBody>
      </p:sp>
      <p:sp>
        <p:nvSpPr>
          <p:cNvPr id="17" name="Text 10"/>
          <p:cNvSpPr/>
          <p:nvPr/>
        </p:nvSpPr>
        <p:spPr>
          <a:xfrm>
            <a:off x="2515076" y="6563678"/>
            <a:ext cx="2257782" cy="728662"/>
          </a:xfrm>
          <a:prstGeom prst="rect">
            <a:avLst/>
          </a:prstGeom>
          <a:noFill/>
          <a:ln/>
        </p:spPr>
        <p:txBody>
          <a:bodyPr wrap="square" lIns="0" tIns="0" rIns="0" bIns="0" rtlCol="0" anchor="t"/>
          <a:lstStyle/>
          <a:p>
            <a:pPr marL="171450" indent="-171450">
              <a:lnSpc>
                <a:spcPts val="1900"/>
              </a:lnSpc>
              <a:buFont typeface="Arial" panose="020B0604020202020204" pitchFamily="34" charset="0"/>
              <a:buChar char="•"/>
            </a:pPr>
            <a:r>
              <a:rPr lang="en-US" sz="1200" dirty="0">
                <a:solidFill>
                  <a:srgbClr val="C9C2C0"/>
                </a:solidFill>
                <a:latin typeface="Gelasio" panose="020B0604020202020204" charset="0"/>
                <a:cs typeface="Gelasio" panose="020B0604020202020204" charset="0"/>
              </a:rPr>
              <a:t>Easy for users to understand and use.. </a:t>
            </a:r>
          </a:p>
          <a:p>
            <a:pPr marL="171450" indent="-171450">
              <a:lnSpc>
                <a:spcPts val="1900"/>
              </a:lnSpc>
              <a:buFont typeface="Arial" panose="020B0604020202020204" pitchFamily="34" charset="0"/>
              <a:buChar char="•"/>
            </a:pPr>
            <a:r>
              <a:rPr lang="en-US" sz="1200" dirty="0">
                <a:solidFill>
                  <a:srgbClr val="C9C2C0"/>
                </a:solidFill>
                <a:latin typeface="Gelasio" panose="020B0604020202020204" charset="0"/>
                <a:cs typeface="Gelasio" panose="020B0604020202020204" charset="0"/>
              </a:rPr>
              <a:t>Easy for developers to update and maintain</a:t>
            </a:r>
            <a:endParaRPr lang="en-US" sz="1150" dirty="0">
              <a:solidFill>
                <a:srgbClr val="C9C2C0"/>
              </a:solidFill>
              <a:latin typeface="Gelasio" panose="020B0604020202020204" charset="0"/>
              <a:cs typeface="Gelasio" panose="020B0604020202020204" charset="0"/>
            </a:endParaRPr>
          </a:p>
        </p:txBody>
      </p:sp>
      <p:sp>
        <p:nvSpPr>
          <p:cNvPr id="18" name="Text 11"/>
          <p:cNvSpPr/>
          <p:nvPr/>
        </p:nvSpPr>
        <p:spPr>
          <a:xfrm>
            <a:off x="2515076" y="7463076"/>
            <a:ext cx="9600128" cy="242888"/>
          </a:xfrm>
          <a:prstGeom prst="rect">
            <a:avLst/>
          </a:prstGeom>
          <a:noFill/>
          <a:ln/>
        </p:spPr>
        <p:txBody>
          <a:bodyPr wrap="none" lIns="0" tIns="0" rIns="0" bIns="0" rtlCol="0" anchor="t"/>
          <a:lstStyle/>
          <a:p>
            <a:pPr marL="0" indent="0" algn="l">
              <a:lnSpc>
                <a:spcPts val="1900"/>
              </a:lnSpc>
              <a:buNone/>
            </a:pPr>
            <a:r>
              <a:rPr lang="en-US" sz="1150" dirty="0">
                <a:solidFill>
                  <a:srgbClr val="C9C2C0"/>
                </a:solidFill>
                <a:latin typeface="Gelasio" panose="020B0604020202020204" charset="0"/>
                <a:ea typeface="Gelasio" pitchFamily="34" charset="-122"/>
                <a:cs typeface="Gelasio" panose="020B0604020202020204" charset="0"/>
              </a:rPr>
              <a:t>Beyond its core functions, the QuantumSecure Chat System prioritises performance, robustness, and ease of management.</a:t>
            </a:r>
            <a:endParaRPr lang="en-US" sz="1150" dirty="0">
              <a:solidFill>
                <a:srgbClr val="C9C2C0"/>
              </a:solidFill>
              <a:latin typeface="Gelasio" panose="020B0604020202020204" charset="0"/>
              <a:cs typeface="Gelasio" panose="020B0604020202020204" charset="0"/>
            </a:endParaRPr>
          </a:p>
        </p:txBody>
      </p:sp>
      <p:sp>
        <p:nvSpPr>
          <p:cNvPr id="19" name="Rectangle: Rounded Corners 18">
            <a:extLst>
              <a:ext uri="{FF2B5EF4-FFF2-40B4-BE49-F238E27FC236}">
                <a16:creationId xmlns:a16="http://schemas.microsoft.com/office/drawing/2014/main" id="{A4BDC050-76E0-97BB-4FA5-AF112ABA9318}"/>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C9C2C0"/>
              </a:solidFill>
              <a:latin typeface="Gelasio" panose="020B0604020202020204" charset="0"/>
              <a:cs typeface="Gelasio" panose="020B06040202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4617" y="641390"/>
            <a:ext cx="9642277" cy="649248"/>
          </a:xfrm>
          <a:prstGeom prst="rect">
            <a:avLst/>
          </a:prstGeom>
          <a:noFill/>
          <a:ln/>
        </p:spPr>
        <p:txBody>
          <a:bodyPr wrap="none" lIns="0" tIns="0" rIns="0" bIns="0" rtlCol="0" anchor="t"/>
          <a:lstStyle/>
          <a:p>
            <a:pPr marL="0" indent="0" algn="l">
              <a:lnSpc>
                <a:spcPts val="5100"/>
              </a:lnSpc>
              <a:buNone/>
            </a:pPr>
            <a:r>
              <a:rPr lang="en-US" sz="4050" dirty="0">
                <a:solidFill>
                  <a:srgbClr val="D8B6A4"/>
                </a:solidFill>
                <a:latin typeface="Gelasio" panose="020B0604020202020204" charset="0"/>
                <a:ea typeface="Gelasio" pitchFamily="34" charset="-122"/>
                <a:cs typeface="Gelasio" panose="020B0604020202020204" charset="0"/>
              </a:rPr>
              <a:t>BB84 – Quantum Key Distribution (QKD)</a:t>
            </a:r>
            <a:endParaRPr lang="en-US" sz="4050" dirty="0">
              <a:latin typeface="Gelasio" panose="020B0604020202020204" charset="0"/>
              <a:cs typeface="Gelasio" panose="020B0604020202020204" charset="0"/>
            </a:endParaRPr>
          </a:p>
        </p:txBody>
      </p:sp>
      <p:sp>
        <p:nvSpPr>
          <p:cNvPr id="3" name="Text 1"/>
          <p:cNvSpPr/>
          <p:nvPr/>
        </p:nvSpPr>
        <p:spPr>
          <a:xfrm>
            <a:off x="507551" y="1366123"/>
            <a:ext cx="11210316" cy="997268"/>
          </a:xfrm>
          <a:prstGeom prst="rect">
            <a:avLst/>
          </a:prstGeom>
          <a:noFill/>
          <a:ln/>
        </p:spPr>
        <p:txBody>
          <a:bodyPr wrap="square" lIns="0" tIns="0" rIns="0" bIns="0" rtlCol="0" anchor="t"/>
          <a:lstStyle/>
          <a:p>
            <a:pPr>
              <a:lnSpc>
                <a:spcPts val="2600"/>
              </a:lnSpc>
            </a:pPr>
            <a:r>
              <a:rPr lang="en-US" sz="1600" dirty="0">
                <a:solidFill>
                  <a:srgbClr val="C9C2C0"/>
                </a:solidFill>
                <a:latin typeface="Gelasio" panose="020B0604020202020204" charset="0"/>
                <a:cs typeface="Gelasio" panose="020B0604020202020204" charset="0"/>
              </a:rPr>
              <a:t>BB84 is the first and most famous quantum cryptography protocol, proposed by Bennett and Brassard in 1984.</a:t>
            </a:r>
            <a:br>
              <a:rPr lang="en-US" sz="1600" dirty="0">
                <a:solidFill>
                  <a:srgbClr val="C9C2C0"/>
                </a:solidFill>
                <a:latin typeface="Gelasio" panose="020B0604020202020204" charset="0"/>
                <a:cs typeface="Gelasio" panose="020B0604020202020204" charset="0"/>
              </a:rPr>
            </a:br>
            <a:r>
              <a:rPr lang="en-US" sz="1600" dirty="0">
                <a:solidFill>
                  <a:srgbClr val="C9C2C0"/>
                </a:solidFill>
                <a:latin typeface="Gelasio" panose="020B0604020202020204" charset="0"/>
                <a:cs typeface="Gelasio" panose="020B0604020202020204" charset="0"/>
              </a:rPr>
              <a:t>It is used to securely share encryption keys between two users using </a:t>
            </a:r>
            <a:r>
              <a:rPr lang="en-US" sz="1600" dirty="0" err="1">
                <a:solidFill>
                  <a:srgbClr val="C9C2C0"/>
                </a:solidFill>
                <a:latin typeface="Gelasio" panose="020B0604020202020204" charset="0"/>
                <a:cs typeface="Gelasio" panose="020B0604020202020204" charset="0"/>
              </a:rPr>
              <a:t>quantummechanics</a:t>
            </a:r>
            <a:r>
              <a:rPr lang="en-US" sz="1600" dirty="0">
                <a:solidFill>
                  <a:srgbClr val="C9C2C0"/>
                </a:solidFill>
                <a:latin typeface="Gelasio" panose="020B0604020202020204" charset="0"/>
                <a:cs typeface="Gelasio" panose="020B0604020202020204" charset="0"/>
              </a:rPr>
              <a:t>.</a:t>
            </a:r>
            <a:r>
              <a:rPr lang="en-US" sz="1600" dirty="0">
                <a:solidFill>
                  <a:srgbClr val="C9C2C0"/>
                </a:solidFill>
                <a:latin typeface="Gelasio" panose="020B0604020202020204" charset="0"/>
                <a:ea typeface="Gelasio" pitchFamily="34" charset="-122"/>
                <a:cs typeface="Gelasio" panose="020B0604020202020204" charset="0"/>
              </a:rPr>
              <a:t>.</a:t>
            </a:r>
            <a:endParaRPr lang="en-US" sz="1600" dirty="0">
              <a:solidFill>
                <a:srgbClr val="C9C2C0"/>
              </a:solidFill>
              <a:latin typeface="Gelasio" panose="020B0604020202020204" charset="0"/>
              <a:cs typeface="Gelasio" panose="020B0604020202020204" charset="0"/>
            </a:endParaRPr>
          </a:p>
        </p:txBody>
      </p:sp>
      <p:sp>
        <p:nvSpPr>
          <p:cNvPr id="4" name="Text 2"/>
          <p:cNvSpPr/>
          <p:nvPr/>
        </p:nvSpPr>
        <p:spPr>
          <a:xfrm>
            <a:off x="737235" y="2824103"/>
            <a:ext cx="7681912" cy="664845"/>
          </a:xfrm>
          <a:prstGeom prst="rect">
            <a:avLst/>
          </a:prstGeom>
          <a:noFill/>
          <a:ln/>
        </p:spPr>
        <p:txBody>
          <a:bodyPr wrap="square" lIns="0" tIns="0" rIns="0" bIns="0" rtlCol="0" anchor="t"/>
          <a:lstStyle/>
          <a:p>
            <a:pPr marL="342900" indent="-342900">
              <a:lnSpc>
                <a:spcPts val="2600"/>
              </a:lnSpc>
              <a:buSzPct val="100000"/>
              <a:buChar char="•"/>
            </a:pPr>
            <a:r>
              <a:rPr lang="en-US" sz="1600" dirty="0">
                <a:solidFill>
                  <a:srgbClr val="C9C2C0"/>
                </a:solidFill>
                <a:latin typeface="Gelasio" panose="020B0604020202020204" charset="0"/>
                <a:cs typeface="Gelasio" panose="020B0604020202020204" charset="0"/>
              </a:rPr>
              <a:t>Traditional key exchange methods can be broken by powerful computers or quantum computers,BB84 solves this by using quantum properties of particles</a:t>
            </a:r>
          </a:p>
        </p:txBody>
      </p:sp>
      <p:sp>
        <p:nvSpPr>
          <p:cNvPr id="5" name="Text 3"/>
          <p:cNvSpPr/>
          <p:nvPr/>
        </p:nvSpPr>
        <p:spPr>
          <a:xfrm>
            <a:off x="744617" y="3893232"/>
            <a:ext cx="7681912" cy="664845"/>
          </a:xfrm>
          <a:prstGeom prst="rect">
            <a:avLst/>
          </a:prstGeom>
          <a:noFill/>
          <a:ln/>
        </p:spPr>
        <p:txBody>
          <a:bodyPr wrap="square" lIns="0" tIns="0" rIns="0" bIns="0" rtlCol="0" anchor="t"/>
          <a:lstStyle/>
          <a:p>
            <a:pPr marL="342900" indent="-342900">
              <a:lnSpc>
                <a:spcPts val="2600"/>
              </a:lnSpc>
              <a:buSzPct val="100000"/>
              <a:buChar char="•"/>
            </a:pPr>
            <a:r>
              <a:rPr lang="en-US" sz="1600" dirty="0">
                <a:solidFill>
                  <a:srgbClr val="C9C2C0"/>
                </a:solidFill>
                <a:latin typeface="Gelasio" panose="020B0604020202020204" charset="0"/>
                <a:cs typeface="Gelasio" panose="020B0604020202020204" charset="0"/>
              </a:rPr>
              <a:t>Detects any hacking attempt automatically</a:t>
            </a:r>
            <a:r>
              <a:rPr lang="en-US" sz="1600" dirty="0">
                <a:solidFill>
                  <a:srgbClr val="C9C2C0"/>
                </a:solidFill>
                <a:latin typeface="Gelasio" panose="020B0604020202020204" charset="0"/>
                <a:ea typeface="Gelasio" pitchFamily="34" charset="-122"/>
                <a:cs typeface="Gelasio" panose="020B0604020202020204" charset="0"/>
              </a:rPr>
              <a:t>, </a:t>
            </a:r>
            <a:r>
              <a:rPr lang="en-US" sz="1600" dirty="0">
                <a:solidFill>
                  <a:srgbClr val="C9C2C0"/>
                </a:solidFill>
                <a:latin typeface="Gelasio" panose="020B0604020202020204" charset="0"/>
                <a:cs typeface="Gelasio" panose="020B0604020202020204" charset="0"/>
              </a:rPr>
              <a:t>Keys cannot be copied or predicted,</a:t>
            </a:r>
            <a:r>
              <a:rPr lang="en-IN" sz="1600" dirty="0">
                <a:solidFill>
                  <a:srgbClr val="C9C2C0"/>
                </a:solidFill>
                <a:latin typeface="Gelasio" panose="020B0604020202020204" charset="0"/>
                <a:cs typeface="Gelasio" panose="020B0604020202020204" charset="0"/>
              </a:rPr>
              <a:t> Provides unconditional security</a:t>
            </a:r>
          </a:p>
          <a:p>
            <a:pPr marL="342900" indent="-342900">
              <a:lnSpc>
                <a:spcPts val="2600"/>
              </a:lnSpc>
              <a:buSzPct val="100000"/>
              <a:buChar char="•"/>
            </a:pPr>
            <a:endParaRPr lang="en-IN" sz="1600" dirty="0">
              <a:solidFill>
                <a:srgbClr val="C9C2C0"/>
              </a:solidFill>
              <a:latin typeface="Gelasio" panose="020B0604020202020204" charset="0"/>
              <a:cs typeface="Gelasio" panose="020B0604020202020204" charset="0"/>
            </a:endParaRPr>
          </a:p>
          <a:p>
            <a:pPr marL="342900" indent="-342900">
              <a:lnSpc>
                <a:spcPts val="2600"/>
              </a:lnSpc>
              <a:buSzPct val="100000"/>
              <a:buChar char="•"/>
            </a:pPr>
            <a:endParaRPr lang="en-US" sz="1600" dirty="0">
              <a:solidFill>
                <a:srgbClr val="C9C2C0"/>
              </a:solidFill>
              <a:latin typeface="Gelasio" panose="020B0604020202020204" charset="0"/>
              <a:cs typeface="Gelasio" panose="020B0604020202020204" charset="0"/>
            </a:endParaRPr>
          </a:p>
        </p:txBody>
      </p:sp>
      <p:sp>
        <p:nvSpPr>
          <p:cNvPr id="6" name="Text 4"/>
          <p:cNvSpPr/>
          <p:nvPr/>
        </p:nvSpPr>
        <p:spPr>
          <a:xfrm>
            <a:off x="737235" y="4957519"/>
            <a:ext cx="7681912" cy="664845"/>
          </a:xfrm>
          <a:prstGeom prst="rect">
            <a:avLst/>
          </a:prstGeom>
          <a:noFill/>
          <a:ln/>
        </p:spPr>
        <p:txBody>
          <a:bodyPr wrap="square" lIns="0" tIns="0" rIns="0" bIns="0" rtlCol="0" anchor="t"/>
          <a:lstStyle/>
          <a:p>
            <a:pPr marL="342900" indent="-342900">
              <a:lnSpc>
                <a:spcPts val="2600"/>
              </a:lnSpc>
              <a:buSzPct val="100000"/>
              <a:buChar char="•"/>
            </a:pPr>
            <a:r>
              <a:rPr lang="en-US" sz="1600" dirty="0">
                <a:solidFill>
                  <a:srgbClr val="C9C2C0"/>
                </a:solidFill>
                <a:latin typeface="Gelasio" panose="020B0604020202020204" charset="0"/>
                <a:cs typeface="Gelasio" panose="020B0604020202020204" charset="0"/>
              </a:rPr>
              <a:t>BB84 is the security backbone of the system, It generates secure encryption keys, These keys are later used with AES encryption for messages</a:t>
            </a:r>
          </a:p>
        </p:txBody>
      </p:sp>
      <p:sp>
        <p:nvSpPr>
          <p:cNvPr id="7" name="Text 5"/>
          <p:cNvSpPr/>
          <p:nvPr/>
        </p:nvSpPr>
        <p:spPr>
          <a:xfrm>
            <a:off x="744617" y="5185767"/>
            <a:ext cx="7681912" cy="664845"/>
          </a:xfrm>
          <a:prstGeom prst="rect">
            <a:avLst/>
          </a:prstGeom>
          <a:noFill/>
          <a:ln/>
        </p:spPr>
        <p:txBody>
          <a:bodyPr wrap="square" lIns="0" tIns="0" rIns="0" bIns="0" rtlCol="0" anchor="t"/>
          <a:lstStyle/>
          <a:p>
            <a:pPr algn="l">
              <a:lnSpc>
                <a:spcPts val="2600"/>
              </a:lnSpc>
              <a:buSzPct val="100000"/>
            </a:pPr>
            <a:endParaRPr lang="en-US" sz="1600" dirty="0">
              <a:latin typeface="Gelasio" panose="020B0604020202020204" charset="0"/>
              <a:cs typeface="Gelasio" panose="020B0604020202020204" charset="0"/>
            </a:endParaRPr>
          </a:p>
        </p:txBody>
      </p:sp>
      <p:pic>
        <p:nvPicPr>
          <p:cNvPr id="8" name="Image 0" descr="preencoded.png"/>
          <p:cNvPicPr>
            <a:picLocks noChangeAspect="1"/>
          </p:cNvPicPr>
          <p:nvPr/>
        </p:nvPicPr>
        <p:blipFill>
          <a:blip r:embed="rId3"/>
          <a:stretch>
            <a:fillRect/>
          </a:stretch>
        </p:blipFill>
        <p:spPr>
          <a:xfrm>
            <a:off x="9338813" y="2127542"/>
            <a:ext cx="4952286" cy="4952286"/>
          </a:xfrm>
          <a:prstGeom prst="rect">
            <a:avLst/>
          </a:prstGeom>
        </p:spPr>
      </p:pic>
      <p:sp>
        <p:nvSpPr>
          <p:cNvPr id="9" name="Text 6"/>
          <p:cNvSpPr/>
          <p:nvPr/>
        </p:nvSpPr>
        <p:spPr>
          <a:xfrm>
            <a:off x="744617" y="7255669"/>
            <a:ext cx="13141047" cy="332423"/>
          </a:xfrm>
          <a:prstGeom prst="rect">
            <a:avLst/>
          </a:prstGeom>
          <a:noFill/>
          <a:ln/>
        </p:spPr>
        <p:txBody>
          <a:bodyPr wrap="none" lIns="0" tIns="0" rIns="0" bIns="0" rtlCol="0" anchor="t"/>
          <a:lstStyle/>
          <a:p>
            <a:pPr marL="0" indent="0" algn="l">
              <a:lnSpc>
                <a:spcPts val="2600"/>
              </a:lnSpc>
              <a:buNone/>
            </a:pPr>
            <a:r>
              <a:rPr lang="en-US" sz="1600" dirty="0">
                <a:solidFill>
                  <a:srgbClr val="C9C2C0"/>
                </a:solidFill>
                <a:latin typeface="Gelasio" panose="020B0604020202020204" charset="0"/>
                <a:ea typeface="Gelasio" pitchFamily="34" charset="-122"/>
                <a:cs typeface="Gelasio" panose="020B0604020202020204" charset="0"/>
              </a:rPr>
              <a:t>This innovative approach guarantees that the encryption keys used are truly random and cannot be compromised without immediate detection.</a:t>
            </a:r>
            <a:endParaRPr lang="en-US" sz="1600" dirty="0">
              <a:latin typeface="Gelasio" panose="020B0604020202020204" charset="0"/>
              <a:cs typeface="Gelasio" panose="020B0604020202020204" charset="0"/>
            </a:endParaRPr>
          </a:p>
        </p:txBody>
      </p:sp>
      <p:sp>
        <p:nvSpPr>
          <p:cNvPr id="10" name="Rectangle: Rounded Corners 9">
            <a:extLst>
              <a:ext uri="{FF2B5EF4-FFF2-40B4-BE49-F238E27FC236}">
                <a16:creationId xmlns:a16="http://schemas.microsoft.com/office/drawing/2014/main" id="{C6E9C93E-1F5F-178A-C17A-57777389BB7B}"/>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lasio" panose="020B0604020202020204" charset="0"/>
              <a:cs typeface="Gelasio" panose="020B06040202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401247" y="629245"/>
            <a:ext cx="11685865" cy="584359"/>
          </a:xfrm>
          <a:prstGeom prst="rect">
            <a:avLst/>
          </a:prstGeom>
          <a:noFill/>
          <a:ln/>
        </p:spPr>
        <p:txBody>
          <a:bodyPr wrap="none" lIns="0" tIns="0" rIns="0" bIns="0" rtlCol="0" anchor="t"/>
          <a:lstStyle/>
          <a:p>
            <a:pPr marL="0" indent="0" algn="l">
              <a:lnSpc>
                <a:spcPts val="4600"/>
              </a:lnSpc>
              <a:buNone/>
            </a:pPr>
            <a:r>
              <a:rPr lang="en-US" sz="3650" dirty="0">
                <a:solidFill>
                  <a:srgbClr val="C9C2C0"/>
                </a:solidFill>
                <a:latin typeface="Gelasio" panose="020B0604020202020204" charset="0"/>
                <a:ea typeface="Gelasio" pitchFamily="34" charset="-122"/>
                <a:cs typeface="Gelasio" panose="020B0604020202020204" charset="0"/>
              </a:rPr>
              <a:t>Shor’s Algorithm – Role as a Quantum Security Analyzer</a:t>
            </a:r>
            <a:endParaRPr lang="en-US" sz="3650" dirty="0">
              <a:solidFill>
                <a:srgbClr val="C9C2C0"/>
              </a:solidFill>
              <a:latin typeface="Gelasio" panose="020B0604020202020204" charset="0"/>
              <a:cs typeface="Gelasio" panose="020B0604020202020204" charset="0"/>
            </a:endParaRPr>
          </a:p>
        </p:txBody>
      </p:sp>
      <p:pic>
        <p:nvPicPr>
          <p:cNvPr id="3" name="Image 0" descr="preencoded.png"/>
          <p:cNvPicPr>
            <a:picLocks noChangeAspect="1"/>
          </p:cNvPicPr>
          <p:nvPr/>
        </p:nvPicPr>
        <p:blipFill>
          <a:blip r:embed="rId3"/>
          <a:stretch>
            <a:fillRect/>
          </a:stretch>
        </p:blipFill>
        <p:spPr>
          <a:xfrm>
            <a:off x="1401247" y="1704261"/>
            <a:ext cx="5685830" cy="5685830"/>
          </a:xfrm>
          <a:prstGeom prst="rect">
            <a:avLst/>
          </a:prstGeom>
        </p:spPr>
      </p:pic>
      <p:sp>
        <p:nvSpPr>
          <p:cNvPr id="4" name="Text 1"/>
          <p:cNvSpPr/>
          <p:nvPr/>
        </p:nvSpPr>
        <p:spPr>
          <a:xfrm>
            <a:off x="7550944" y="1662232"/>
            <a:ext cx="5685830" cy="897612"/>
          </a:xfrm>
          <a:prstGeom prst="rect">
            <a:avLst/>
          </a:prstGeom>
          <a:noFill/>
          <a:ln/>
        </p:spPr>
        <p:txBody>
          <a:bodyPr wrap="square" lIns="0" tIns="0" rIns="0" bIns="0" rtlCol="0" anchor="t"/>
          <a:lstStyle/>
          <a:p>
            <a:pPr>
              <a:lnSpc>
                <a:spcPts val="2350"/>
              </a:lnSpc>
            </a:pPr>
            <a:r>
              <a:rPr lang="en-IN" sz="1600" dirty="0">
                <a:solidFill>
                  <a:srgbClr val="C9C2C0"/>
                </a:solidFill>
                <a:latin typeface="Gelasio" panose="020B0604020202020204" charset="0"/>
                <a:cs typeface="Gelasio" panose="020B0604020202020204" charset="0"/>
              </a:rPr>
              <a:t>Shor’s Algorithm is a quantum algorithm used to break classical public-key cryptography, especially RSA encryption.</a:t>
            </a:r>
            <a:endParaRPr lang="en-US" sz="1450" dirty="0">
              <a:solidFill>
                <a:srgbClr val="C9C2C0"/>
              </a:solidFill>
              <a:latin typeface="Gelasio" panose="020B0604020202020204" charset="0"/>
              <a:cs typeface="Gelasio" panose="020B0604020202020204" charset="0"/>
            </a:endParaRPr>
          </a:p>
        </p:txBody>
      </p:sp>
      <p:sp>
        <p:nvSpPr>
          <p:cNvPr id="5" name="Text 2"/>
          <p:cNvSpPr/>
          <p:nvPr/>
        </p:nvSpPr>
        <p:spPr>
          <a:xfrm>
            <a:off x="7550944" y="2483744"/>
            <a:ext cx="5685830" cy="598408"/>
          </a:xfrm>
          <a:prstGeom prst="rect">
            <a:avLst/>
          </a:prstGeom>
          <a:noFill/>
          <a:ln/>
        </p:spPr>
        <p:txBody>
          <a:bodyPr wrap="square" lIns="0" tIns="0" rIns="0" bIns="0" rtlCol="0" anchor="t"/>
          <a:lstStyle/>
          <a:p>
            <a:pPr marL="342900" indent="-342900">
              <a:lnSpc>
                <a:spcPts val="2350"/>
              </a:lnSpc>
              <a:buSzPct val="100000"/>
              <a:buChar char="•"/>
            </a:pPr>
            <a:r>
              <a:rPr lang="en-US" sz="1600" dirty="0">
                <a:solidFill>
                  <a:srgbClr val="C9C2C0"/>
                </a:solidFill>
                <a:latin typeface="Gelasio" panose="020B0604020202020204" charset="0"/>
                <a:cs typeface="Gelasio" panose="020B0604020202020204" charset="0"/>
              </a:rPr>
              <a:t>Why Shor’s Algorithm is used</a:t>
            </a:r>
          </a:p>
          <a:p>
            <a:pPr>
              <a:lnSpc>
                <a:spcPts val="2350"/>
              </a:lnSpc>
              <a:buSzPct val="100000"/>
            </a:pPr>
            <a:endParaRPr lang="en-US" sz="1600" dirty="0">
              <a:solidFill>
                <a:srgbClr val="C9C2C0"/>
              </a:solidFill>
              <a:latin typeface="Gelasio" panose="020B0604020202020204" charset="0"/>
              <a:cs typeface="Gelasio" panose="020B0604020202020204" charset="0"/>
            </a:endParaRPr>
          </a:p>
          <a:p>
            <a:pPr>
              <a:lnSpc>
                <a:spcPts val="2350"/>
              </a:lnSpc>
              <a:buSzPct val="100000"/>
            </a:pPr>
            <a:r>
              <a:rPr lang="en-US" sz="1600" dirty="0">
                <a:solidFill>
                  <a:srgbClr val="C9C2C0"/>
                </a:solidFill>
                <a:latin typeface="Gelasio" panose="020B0604020202020204" charset="0"/>
                <a:cs typeface="Gelasio" panose="020B0604020202020204" charset="0"/>
              </a:rPr>
              <a:t>            To analyze and demonstrate security weaknesses</a:t>
            </a:r>
          </a:p>
          <a:p>
            <a:pPr>
              <a:lnSpc>
                <a:spcPts val="2350"/>
              </a:lnSpc>
              <a:buSzPct val="100000"/>
            </a:pPr>
            <a:endParaRPr lang="en-US" sz="1600" dirty="0">
              <a:solidFill>
                <a:srgbClr val="C9C2C0"/>
              </a:solidFill>
              <a:latin typeface="Gelasio" panose="020B0604020202020204" charset="0"/>
              <a:cs typeface="Gelasio" panose="020B0604020202020204" charset="0"/>
            </a:endParaRPr>
          </a:p>
          <a:p>
            <a:pPr>
              <a:lnSpc>
                <a:spcPts val="2350"/>
              </a:lnSpc>
              <a:buSzPct val="100000"/>
            </a:pPr>
            <a:r>
              <a:rPr lang="en-US" sz="1600" dirty="0">
                <a:solidFill>
                  <a:srgbClr val="C9C2C0"/>
                </a:solidFill>
                <a:latin typeface="Gelasio" panose="020B0604020202020204" charset="0"/>
                <a:cs typeface="Gelasio" panose="020B0604020202020204" charset="0"/>
              </a:rPr>
              <a:t>            To show how quantum computers can break RSA</a:t>
            </a:r>
          </a:p>
          <a:p>
            <a:pPr>
              <a:lnSpc>
                <a:spcPts val="2350"/>
              </a:lnSpc>
              <a:buSzPct val="100000"/>
            </a:pPr>
            <a:endParaRPr lang="en-US" sz="1450" dirty="0">
              <a:solidFill>
                <a:srgbClr val="C9C2C0"/>
              </a:solidFill>
              <a:latin typeface="Gelasio" panose="020B0604020202020204" charset="0"/>
              <a:cs typeface="Gelasio" panose="020B0604020202020204" charset="0"/>
            </a:endParaRPr>
          </a:p>
          <a:p>
            <a:pPr>
              <a:lnSpc>
                <a:spcPts val="2350"/>
              </a:lnSpc>
              <a:buSzPct val="100000"/>
            </a:pPr>
            <a:endParaRPr lang="en-US" sz="1450" dirty="0">
              <a:solidFill>
                <a:srgbClr val="C9C2C0"/>
              </a:solidFill>
              <a:latin typeface="Gelasio" panose="020B0604020202020204" charset="0"/>
              <a:cs typeface="Gelasio" panose="020B0604020202020204" charset="0"/>
            </a:endParaRPr>
          </a:p>
        </p:txBody>
      </p:sp>
      <p:sp>
        <p:nvSpPr>
          <p:cNvPr id="6" name="Text 3"/>
          <p:cNvSpPr/>
          <p:nvPr/>
        </p:nvSpPr>
        <p:spPr>
          <a:xfrm>
            <a:off x="7550944" y="4238090"/>
            <a:ext cx="5685830" cy="897612"/>
          </a:xfrm>
          <a:prstGeom prst="rect">
            <a:avLst/>
          </a:prstGeom>
          <a:noFill/>
          <a:ln/>
        </p:spPr>
        <p:txBody>
          <a:bodyPr wrap="square" lIns="0" tIns="0" rIns="0" bIns="0" rtlCol="0" anchor="t"/>
          <a:lstStyle/>
          <a:p>
            <a:pPr marL="342900" indent="-342900">
              <a:lnSpc>
                <a:spcPts val="2350"/>
              </a:lnSpc>
              <a:buSzPct val="100000"/>
              <a:buChar char="•"/>
            </a:pPr>
            <a:r>
              <a:rPr lang="en-IN" sz="1600" dirty="0">
                <a:solidFill>
                  <a:srgbClr val="C9C2C0"/>
                </a:solidFill>
                <a:latin typeface="Gelasio" panose="020B0604020202020204" charset="0"/>
                <a:cs typeface="Gelasio" panose="020B0604020202020204" charset="0"/>
              </a:rPr>
              <a:t>Role in This Project</a:t>
            </a:r>
          </a:p>
          <a:p>
            <a:pPr marL="342900" indent="-342900">
              <a:lnSpc>
                <a:spcPts val="2350"/>
              </a:lnSpc>
              <a:buSzPct val="100000"/>
              <a:buChar char="•"/>
            </a:pPr>
            <a:endParaRPr lang="en-US" sz="1450" dirty="0">
              <a:solidFill>
                <a:srgbClr val="C9C2C0"/>
              </a:solidFill>
              <a:latin typeface="Gelasio" panose="020B0604020202020204" charset="0"/>
              <a:cs typeface="Gelasio" panose="020B0604020202020204" charset="0"/>
            </a:endParaRPr>
          </a:p>
        </p:txBody>
      </p:sp>
      <p:sp>
        <p:nvSpPr>
          <p:cNvPr id="7" name="Text 4"/>
          <p:cNvSpPr/>
          <p:nvPr/>
        </p:nvSpPr>
        <p:spPr>
          <a:xfrm>
            <a:off x="7550944" y="4354830"/>
            <a:ext cx="5685830" cy="598408"/>
          </a:xfrm>
          <a:prstGeom prst="rect">
            <a:avLst/>
          </a:prstGeom>
          <a:noFill/>
          <a:ln/>
        </p:spPr>
        <p:txBody>
          <a:bodyPr wrap="square" lIns="0" tIns="0" rIns="0" bIns="0" rtlCol="0" anchor="t"/>
          <a:lstStyle/>
          <a:p>
            <a:pPr marL="342900" indent="-342900" algn="l">
              <a:lnSpc>
                <a:spcPts val="2350"/>
              </a:lnSpc>
              <a:buSzPct val="100000"/>
              <a:buChar char="•"/>
            </a:pPr>
            <a:endParaRPr lang="en-US" sz="1450" dirty="0">
              <a:solidFill>
                <a:srgbClr val="C9C2C0"/>
              </a:solidFill>
              <a:latin typeface="Gelasio" panose="020B0604020202020204" charset="0"/>
              <a:cs typeface="Gelasio" panose="020B0604020202020204" charset="0"/>
            </a:endParaRPr>
          </a:p>
        </p:txBody>
      </p:sp>
      <p:sp>
        <p:nvSpPr>
          <p:cNvPr id="8" name="Text 5"/>
          <p:cNvSpPr/>
          <p:nvPr/>
        </p:nvSpPr>
        <p:spPr>
          <a:xfrm>
            <a:off x="7550944" y="5018603"/>
            <a:ext cx="5685830" cy="598408"/>
          </a:xfrm>
          <a:prstGeom prst="rect">
            <a:avLst/>
          </a:prstGeom>
          <a:noFill/>
          <a:ln/>
        </p:spPr>
        <p:txBody>
          <a:bodyPr wrap="square" lIns="0" tIns="0" rIns="0" bIns="0" rtlCol="0" anchor="t"/>
          <a:lstStyle/>
          <a:p>
            <a:pPr marL="342900" indent="-342900" algn="l">
              <a:lnSpc>
                <a:spcPts val="2350"/>
              </a:lnSpc>
              <a:buSzPct val="100000"/>
              <a:buChar char="•"/>
            </a:pPr>
            <a:endParaRPr lang="en-US" sz="1450" dirty="0">
              <a:solidFill>
                <a:srgbClr val="C9C2C0"/>
              </a:solidFill>
              <a:latin typeface="Gelasio" panose="020B0604020202020204" charset="0"/>
              <a:cs typeface="Gelasio" panose="020B0604020202020204" charset="0"/>
            </a:endParaRPr>
          </a:p>
        </p:txBody>
      </p:sp>
      <p:sp>
        <p:nvSpPr>
          <p:cNvPr id="9" name="Text 6"/>
          <p:cNvSpPr/>
          <p:nvPr/>
        </p:nvSpPr>
        <p:spPr>
          <a:xfrm>
            <a:off x="7569994" y="6115308"/>
            <a:ext cx="5685830" cy="897612"/>
          </a:xfrm>
          <a:prstGeom prst="rect">
            <a:avLst/>
          </a:prstGeom>
          <a:noFill/>
          <a:ln/>
        </p:spPr>
        <p:txBody>
          <a:bodyPr wrap="square" lIns="0" tIns="0" rIns="0" bIns="0" rtlCol="0" anchor="t"/>
          <a:lstStyle/>
          <a:p>
            <a:r>
              <a:rPr lang="en-US" sz="1600" dirty="0">
                <a:solidFill>
                  <a:srgbClr val="C9C2C0"/>
                </a:solidFill>
                <a:latin typeface="Gelasio" panose="020B0604020202020204" charset="0"/>
                <a:cs typeface="Gelasio" panose="020B0604020202020204" charset="0"/>
              </a:rPr>
              <a:t>Simple Analogy </a:t>
            </a:r>
          </a:p>
          <a:p>
            <a:endParaRPr lang="en-US" sz="1600" dirty="0">
              <a:solidFill>
                <a:srgbClr val="C9C2C0"/>
              </a:solidFill>
              <a:latin typeface="Gelasio" panose="020B0604020202020204" charset="0"/>
              <a:cs typeface="Gelasio" panose="020B0604020202020204" charset="0"/>
            </a:endParaRPr>
          </a:p>
          <a:p>
            <a:r>
              <a:rPr lang="en-US" sz="1600" dirty="0">
                <a:solidFill>
                  <a:srgbClr val="C9C2C0"/>
                </a:solidFill>
                <a:latin typeface="Gelasio" panose="020B0604020202020204" charset="0"/>
                <a:cs typeface="Gelasio" panose="020B0604020202020204" charset="0"/>
              </a:rPr>
              <a:t>    RSA = Strong lock</a:t>
            </a:r>
          </a:p>
          <a:p>
            <a:endParaRPr lang="en-US" sz="1600" dirty="0">
              <a:solidFill>
                <a:srgbClr val="C9C2C0"/>
              </a:solidFill>
              <a:latin typeface="Gelasio" panose="020B0604020202020204" charset="0"/>
              <a:cs typeface="Gelasio" panose="020B0604020202020204" charset="0"/>
            </a:endParaRPr>
          </a:p>
          <a:p>
            <a:r>
              <a:rPr lang="en-US" sz="1600" dirty="0">
                <a:solidFill>
                  <a:srgbClr val="C9C2C0"/>
                </a:solidFill>
                <a:latin typeface="Gelasio" panose="020B0604020202020204" charset="0"/>
                <a:cs typeface="Gelasio" panose="020B0604020202020204" charset="0"/>
              </a:rPr>
              <a:t>    Quantum Computer + Shor’s Algorithm = Master key</a:t>
            </a:r>
          </a:p>
          <a:p>
            <a:endParaRPr lang="en-US" sz="1600" dirty="0">
              <a:solidFill>
                <a:srgbClr val="C9C2C0"/>
              </a:solidFill>
              <a:latin typeface="Gelasio" panose="020B0604020202020204" charset="0"/>
              <a:cs typeface="Gelasio" panose="020B0604020202020204" charset="0"/>
            </a:endParaRPr>
          </a:p>
          <a:p>
            <a:r>
              <a:rPr lang="en-US" sz="1600" dirty="0">
                <a:solidFill>
                  <a:srgbClr val="C9C2C0"/>
                </a:solidFill>
                <a:latin typeface="Gelasio" panose="020B0604020202020204" charset="0"/>
                <a:cs typeface="Gelasio" panose="020B0604020202020204" charset="0"/>
              </a:rPr>
              <a:t>    BB84 = Lock that breaks if someone touches it</a:t>
            </a:r>
          </a:p>
          <a:p>
            <a:pPr marL="342900" indent="-342900" algn="l">
              <a:lnSpc>
                <a:spcPts val="2350"/>
              </a:lnSpc>
              <a:buSzPct val="100000"/>
              <a:buChar char="•"/>
            </a:pPr>
            <a:endParaRPr lang="en-US" sz="1450" dirty="0">
              <a:solidFill>
                <a:srgbClr val="C9C2C0"/>
              </a:solidFill>
              <a:latin typeface="Gelasio" panose="020B0604020202020204" charset="0"/>
              <a:cs typeface="Gelasio" panose="020B0604020202020204" charset="0"/>
            </a:endParaRPr>
          </a:p>
        </p:txBody>
      </p:sp>
      <p:sp>
        <p:nvSpPr>
          <p:cNvPr id="10" name="Rectangle: Rounded Corners 9">
            <a:extLst>
              <a:ext uri="{FF2B5EF4-FFF2-40B4-BE49-F238E27FC236}">
                <a16:creationId xmlns:a16="http://schemas.microsoft.com/office/drawing/2014/main" id="{4E291B53-E4CF-9CE1-37A3-24430A969823}"/>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C9C2C0"/>
              </a:solidFill>
              <a:latin typeface="Gelasio" panose="020B0604020202020204" charset="0"/>
              <a:cs typeface="Gelasio" panose="020B0604020202020204" charset="0"/>
            </a:endParaRPr>
          </a:p>
        </p:txBody>
      </p:sp>
      <p:sp>
        <p:nvSpPr>
          <p:cNvPr id="11" name="Rectangle 1">
            <a:extLst>
              <a:ext uri="{FF2B5EF4-FFF2-40B4-BE49-F238E27FC236}">
                <a16:creationId xmlns:a16="http://schemas.microsoft.com/office/drawing/2014/main" id="{27A35467-4A3E-CC87-F9B7-72C816060064}"/>
              </a:ext>
            </a:extLst>
          </p:cNvPr>
          <p:cNvSpPr>
            <a:spLocks noChangeArrowheads="1"/>
          </p:cNvSpPr>
          <p:nvPr/>
        </p:nvSpPr>
        <p:spPr bwMode="auto">
          <a:xfrm>
            <a:off x="8013700" y="4661912"/>
            <a:ext cx="395653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i="0" u="none" strike="noStrike" cap="none" normalizeH="0" baseline="0" dirty="0">
                <a:ln>
                  <a:noFill/>
                </a:ln>
                <a:solidFill>
                  <a:srgbClr val="C9C2C0"/>
                </a:solidFill>
                <a:effectLst/>
                <a:latin typeface="Gelasio" panose="020B0604020202020204" charset="0"/>
                <a:cs typeface="Gelasio" panose="020B0604020202020204" charset="0"/>
              </a:rPr>
              <a:t>Works as a Quantum Security Analyzer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i="0" u="none" strike="noStrike" cap="none" normalizeH="0" baseline="0" dirty="0">
              <a:ln>
                <a:noFill/>
              </a:ln>
              <a:solidFill>
                <a:srgbClr val="C9C2C0"/>
              </a:solidFill>
              <a:effectLst/>
              <a:latin typeface="Gelasio" panose="020B0604020202020204" charset="0"/>
              <a:cs typeface="Gelasio" panose="020B060402020202020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i="0" u="none" strike="noStrike" cap="none" normalizeH="0" baseline="0" dirty="0">
                <a:ln>
                  <a:noFill/>
                </a:ln>
                <a:solidFill>
                  <a:srgbClr val="C9C2C0"/>
                </a:solidFill>
                <a:effectLst/>
                <a:latin typeface="Gelasio" panose="020B0604020202020204" charset="0"/>
                <a:cs typeface="Gelasio" panose="020B0604020202020204" charset="0"/>
              </a:rPr>
              <a:t>Takes small RSA values for safe demonstration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i="0" u="none" strike="noStrike" cap="none" normalizeH="0" baseline="0" dirty="0">
              <a:ln>
                <a:noFill/>
              </a:ln>
              <a:solidFill>
                <a:srgbClr val="C9C2C0"/>
              </a:solidFill>
              <a:effectLst/>
              <a:latin typeface="Gelasio" panose="020B0604020202020204" charset="0"/>
              <a:cs typeface="Gelasio" panose="020B060402020202020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i="0" u="none" strike="noStrike" cap="none" normalizeH="0" baseline="0" dirty="0">
                <a:ln>
                  <a:noFill/>
                </a:ln>
                <a:solidFill>
                  <a:srgbClr val="C9C2C0"/>
                </a:solidFill>
                <a:effectLst/>
                <a:latin typeface="Gelasio" panose="020B0604020202020204" charset="0"/>
                <a:cs typeface="Gelasio" panose="020B0604020202020204" charset="0"/>
              </a:rPr>
              <a:t>Shows how classical encryption can fail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34D45F6-0A43-3F12-4090-C1B320CA9835}"/>
              </a:ext>
            </a:extLst>
          </p:cNvPr>
          <p:cNvSpPr/>
          <p:nvPr/>
        </p:nvSpPr>
        <p:spPr>
          <a:xfrm>
            <a:off x="12865100" y="7797800"/>
            <a:ext cx="1646767" cy="319907"/>
          </a:xfrm>
          <a:prstGeom prst="round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D814C9D-EEE0-16D7-0F4A-816186A055F4}"/>
              </a:ext>
            </a:extLst>
          </p:cNvPr>
          <p:cNvSpPr txBox="1"/>
          <p:nvPr/>
        </p:nvSpPr>
        <p:spPr>
          <a:xfrm>
            <a:off x="3609974" y="3329970"/>
            <a:ext cx="7410451" cy="1569660"/>
          </a:xfrm>
          <a:prstGeom prst="rect">
            <a:avLst/>
          </a:prstGeom>
          <a:noFill/>
        </p:spPr>
        <p:txBody>
          <a:bodyPr wrap="square" rtlCol="0">
            <a:spAutoFit/>
          </a:bodyPr>
          <a:lstStyle/>
          <a:p>
            <a:r>
              <a:rPr lang="en-US" sz="9600" dirty="0">
                <a:solidFill>
                  <a:srgbClr val="C9C2C0"/>
                </a:solidFill>
                <a:latin typeface="Gelasio" panose="020B0604020202020204" charset="0"/>
                <a:cs typeface="Gelasio" panose="020B0604020202020204" charset="0"/>
              </a:rPr>
              <a:t>THANK YOU</a:t>
            </a:r>
            <a:endParaRPr lang="en-IN" sz="9600" dirty="0">
              <a:solidFill>
                <a:srgbClr val="C9C2C0"/>
              </a:solidFill>
              <a:latin typeface="Gelasio" panose="020B0604020202020204" charset="0"/>
              <a:cs typeface="Gelasio" panose="020B0604020202020204" charset="0"/>
            </a:endParaRPr>
          </a:p>
        </p:txBody>
      </p:sp>
    </p:spTree>
    <p:extLst>
      <p:ext uri="{BB962C8B-B14F-4D97-AF65-F5344CB8AC3E}">
        <p14:creationId xmlns:p14="http://schemas.microsoft.com/office/powerpoint/2010/main" val="2132962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1973</TotalTime>
  <Words>1047</Words>
  <Application>Microsoft Office PowerPoint</Application>
  <PresentationFormat>Custom</PresentationFormat>
  <Paragraphs>171</Paragraphs>
  <Slides>12</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Gelasio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CHINTU</dc:creator>
  <cp:lastModifiedBy>bhanu palati</cp:lastModifiedBy>
  <cp:revision>4</cp:revision>
  <dcterms:created xsi:type="dcterms:W3CDTF">2026-01-20T05:41:46Z</dcterms:created>
  <dcterms:modified xsi:type="dcterms:W3CDTF">2026-01-22T16:47:40Z</dcterms:modified>
</cp:coreProperties>
</file>